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tags/tag3.xml" ContentType="application/vnd.openxmlformats-officedocument.presentationml.tags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38"/>
  </p:notesMasterIdLst>
  <p:sldIdLst>
    <p:sldId id="258" r:id="rId3"/>
    <p:sldId id="257" r:id="rId4"/>
    <p:sldId id="259" r:id="rId5"/>
    <p:sldId id="263" r:id="rId6"/>
    <p:sldId id="407" r:id="rId7"/>
    <p:sldId id="350" r:id="rId8"/>
    <p:sldId id="408" r:id="rId9"/>
    <p:sldId id="409" r:id="rId10"/>
    <p:sldId id="410" r:id="rId11"/>
    <p:sldId id="411" r:id="rId12"/>
    <p:sldId id="412" r:id="rId13"/>
    <p:sldId id="413" r:id="rId14"/>
    <p:sldId id="414" r:id="rId15"/>
    <p:sldId id="415" r:id="rId16"/>
    <p:sldId id="416" r:id="rId17"/>
    <p:sldId id="417" r:id="rId18"/>
    <p:sldId id="383" r:id="rId19"/>
    <p:sldId id="384" r:id="rId20"/>
    <p:sldId id="418" r:id="rId21"/>
    <p:sldId id="419" r:id="rId22"/>
    <p:sldId id="420" r:id="rId23"/>
    <p:sldId id="421" r:id="rId24"/>
    <p:sldId id="386" r:id="rId25"/>
    <p:sldId id="264" r:id="rId26"/>
    <p:sldId id="387" r:id="rId27"/>
    <p:sldId id="389" r:id="rId28"/>
    <p:sldId id="390" r:id="rId29"/>
    <p:sldId id="395" r:id="rId30"/>
    <p:sldId id="396" r:id="rId31"/>
    <p:sldId id="422" r:id="rId32"/>
    <p:sldId id="423" r:id="rId33"/>
    <p:sldId id="397" r:id="rId34"/>
    <p:sldId id="398" r:id="rId35"/>
    <p:sldId id="399" r:id="rId36"/>
    <p:sldId id="347" r:id="rId37"/>
  </p:sldIdLst>
  <p:sldSz cx="12192000" cy="6858000"/>
  <p:notesSz cx="6858000" cy="9144000"/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>
          <p15:clr>
            <a:srgbClr val="A4A3A4"/>
          </p15:clr>
        </p15:guide>
        <p15:guide id="2" pos="38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74340"/>
    <a:srgbClr val="915620"/>
    <a:srgbClr val="422B26"/>
    <a:srgbClr val="F7F9F3"/>
    <a:srgbClr val="4F565C"/>
    <a:srgbClr val="A39A8B"/>
    <a:srgbClr val="D2CFC7"/>
    <a:srgbClr val="D2CFC6"/>
    <a:srgbClr val="B8B1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83"/>
  </p:normalViewPr>
  <p:slideViewPr>
    <p:cSldViewPr snapToGrid="0" snapToObjects="1">
      <p:cViewPr varScale="1">
        <p:scale>
          <a:sx n="83" d="100"/>
          <a:sy n="83" d="100"/>
        </p:scale>
        <p:origin x="427" y="77"/>
      </p:cViewPr>
      <p:guideLst>
        <p:guide orient="horz" pos="2183"/>
        <p:guide pos="38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71A2C7-D4B4-4706-8875-69BBCA3C8CDB}" type="datetimeFigureOut">
              <a:rPr lang="zh-CN" altLang="en-US" smtClean="0"/>
              <a:t>2022/5/13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20EB5C-24B1-4869-AFC6-058737BB3DF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6913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36142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2133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242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72533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518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56842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644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45384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727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6512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3010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388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64584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5045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29570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29180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7080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084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3925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563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39349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862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15990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2889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523781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6859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7070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6780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45686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047635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30308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81000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5728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4909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20EB5C-24B1-4869-AFC6-058737BB3DF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0760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C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13"/>
          <a:srcRect l="8598" r="58288" b="76954"/>
          <a:stretch>
            <a:fillRect/>
          </a:stretch>
        </p:blipFill>
        <p:spPr>
          <a:xfrm>
            <a:off x="28575" y="-8890"/>
            <a:ext cx="5369560" cy="15805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3"/>
          <a:srcRect l="68780" r="14725" b="64889"/>
          <a:stretch>
            <a:fillRect/>
          </a:stretch>
        </p:blipFill>
        <p:spPr>
          <a:xfrm>
            <a:off x="9543415" y="-8890"/>
            <a:ext cx="2674620" cy="2407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C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6E4F28-AF1B-D443-B9DC-5D1C35B08E4E}" type="datetimeFigureOut">
              <a:rPr kumimoji="1" lang="zh-CN" altLang="en-US" smtClean="0"/>
              <a:t>2022/5/13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662DA4-E61D-BB42-9A66-0FBBD53C76FE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7" name="标题占位符 1"/>
          <p:cNvSpPr>
            <a:spLocks noGrp="1"/>
          </p:cNvSpPr>
          <p:nvPr userDrawn="1"/>
        </p:nvSpPr>
        <p:spPr>
          <a:xfrm>
            <a:off x="965200" y="492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13"/>
          <a:srcRect l="8598" r="58288" b="76954"/>
          <a:stretch>
            <a:fillRect/>
          </a:stretch>
        </p:blipFill>
        <p:spPr>
          <a:xfrm>
            <a:off x="28575" y="-8890"/>
            <a:ext cx="5369560" cy="158051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13"/>
          <a:srcRect l="68780" r="14725" b="64889"/>
          <a:stretch>
            <a:fillRect/>
          </a:stretch>
        </p:blipFill>
        <p:spPr>
          <a:xfrm>
            <a:off x="9543415" y="-8890"/>
            <a:ext cx="2674620" cy="240792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600" advClick="0" advTm="2000">
        <p:blinds dir="vert"/>
      </p:transition>
    </mc:Choice>
    <mc:Fallback xmlns="">
      <p:transition spd="slow" advClick="0" advTm="2000">
        <p:blinds dir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gif"/><Relationship Id="rId4" Type="http://schemas.openxmlformats.org/officeDocument/2006/relationships/image" Target="../media/image7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gif"/><Relationship Id="rId4" Type="http://schemas.openxmlformats.org/officeDocument/2006/relationships/image" Target="../media/image1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gi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gif"/><Relationship Id="rId4" Type="http://schemas.openxmlformats.org/officeDocument/2006/relationships/image" Target="../media/image15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34.jpe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12" Type="http://schemas.microsoft.com/office/2007/relationships/hdphoto" Target="../media/hdphoto5.wdp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11" Type="http://schemas.openxmlformats.org/officeDocument/2006/relationships/image" Target="../media/image33.png"/><Relationship Id="rId5" Type="http://schemas.openxmlformats.org/officeDocument/2006/relationships/image" Target="../media/image30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3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2776872" y="290286"/>
            <a:ext cx="6601426" cy="6277428"/>
          </a:xfrm>
          <a:prstGeom prst="ellipse">
            <a:avLst/>
          </a:prstGeom>
          <a:solidFill>
            <a:srgbClr val="F7F9F3"/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01817" y="4066982"/>
            <a:ext cx="817755" cy="817755"/>
          </a:xfrm>
          <a:prstGeom prst="ellipse">
            <a:avLst/>
          </a:prstGeom>
          <a:solidFill>
            <a:srgbClr val="F7F9F3"/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967439" y="1918267"/>
            <a:ext cx="387041" cy="387041"/>
          </a:xfrm>
          <a:prstGeom prst="ellipse">
            <a:avLst/>
          </a:prstGeom>
          <a:solidFill>
            <a:srgbClr val="F7F9F3"/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5967" y="1704638"/>
            <a:ext cx="615553" cy="233133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l"/>
            <a:r>
              <a:rPr lang="zh-CN" altLang="en-US" sz="2800">
                <a:solidFill>
                  <a:schemeClr val="tx1">
                    <a:lumMod val="75000"/>
                    <a:lumOff val="25000"/>
                  </a:schemeClr>
                </a:solidFill>
                <a:ea typeface="楷体" panose="02010609060101010101" pitchFamily="49" charset="-122"/>
              </a:rPr>
              <a:t>第一课</a:t>
            </a:r>
            <a:endParaRPr kumimoji="1"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ea typeface="楷体" panose="02010609060101010101" pitchFamily="49" charset="-122"/>
            </a:endParaRPr>
          </a:p>
        </p:txBody>
      </p:sp>
      <p:sp>
        <p:nvSpPr>
          <p:cNvPr id="4" name="PA-图片 27"/>
          <p:cNvSpPr/>
          <p:nvPr>
            <p:custDataLst>
              <p:tags r:id="rId1"/>
            </p:custDataLst>
          </p:nvPr>
        </p:nvSpPr>
        <p:spPr>
          <a:xfrm>
            <a:off x="3540125" y="4062621"/>
            <a:ext cx="922020" cy="671195"/>
          </a:xfrm>
          <a:custGeom>
            <a:avLst/>
            <a:gdLst/>
            <a:ahLst/>
            <a:cxnLst/>
            <a:rect l="0" t="0" r="0" b="0"/>
            <a:pathLst>
              <a:path w="3298119" h="1554143">
                <a:moveTo>
                  <a:pt x="0" y="0"/>
                </a:moveTo>
                <a:lnTo>
                  <a:pt x="3298118" y="0"/>
                </a:lnTo>
                <a:lnTo>
                  <a:pt x="3298118" y="1554142"/>
                </a:lnTo>
                <a:lnTo>
                  <a:pt x="0" y="1554142"/>
                </a:lnTo>
                <a:close/>
              </a:path>
            </a:pathLst>
          </a:cu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 l="-6915" t="-38378" r="-106916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34" b="11540"/>
          <a:stretch/>
        </p:blipFill>
        <p:spPr>
          <a:xfrm rot="2236662">
            <a:off x="5758684" y="806191"/>
            <a:ext cx="3078480" cy="2825214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2819572" y="2901314"/>
            <a:ext cx="6881178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 sz="54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</a:rPr>
              <a:t>九月去北京旅游最好</a:t>
            </a:r>
            <a:endParaRPr lang="zh-CN" altLang="en-US" sz="5400" b="1" dirty="0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12" name="文本框 2"/>
          <p:cNvSpPr txBox="1"/>
          <p:nvPr/>
        </p:nvSpPr>
        <p:spPr>
          <a:xfrm>
            <a:off x="3937101" y="4163248"/>
            <a:ext cx="4514540" cy="163121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altLang="zh-CN" sz="28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Bài 1:</a:t>
            </a:r>
          </a:p>
          <a:p>
            <a:pPr algn="ctr"/>
            <a:r>
              <a:rPr kumimoji="1" lang="en-US" altLang="zh-CN" sz="360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Đi du lịch Bắc Kinh vào tháng 9 là tốt nhất</a:t>
            </a:r>
            <a:endParaRPr kumimoji="1" lang="zh-CN" altLang="en-US" sz="3200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7" grpId="0"/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2579914" y="1544502"/>
            <a:ext cx="8632372" cy="4094298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1524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060914" y="1086794"/>
            <a:ext cx="1719309" cy="3831772"/>
          </a:xfrm>
          <a:prstGeom prst="rect">
            <a:avLst/>
          </a:prstGeom>
          <a:noFill/>
          <a:ln w="28575">
            <a:solidFill>
              <a:srgbClr val="F7F9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920570" y="1783987"/>
            <a:ext cx="123008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96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48051" y="3247136"/>
            <a:ext cx="505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</a:rPr>
              <a:t>生词</a:t>
            </a:r>
            <a:endParaRPr kumimoji="1"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4504391" y="2650138"/>
            <a:ext cx="613942" cy="616819"/>
            <a:chOff x="4569762" y="2143098"/>
            <a:chExt cx="613942" cy="616819"/>
          </a:xfrm>
        </p:grpSpPr>
        <p:sp>
          <p:nvSpPr>
            <p:cNvPr id="14" name="椭圆 13"/>
            <p:cNvSpPr/>
            <p:nvPr/>
          </p:nvSpPr>
          <p:spPr>
            <a:xfrm>
              <a:off x="4569762" y="2172612"/>
              <a:ext cx="587305" cy="587305"/>
            </a:xfrm>
            <a:prstGeom prst="ellipse">
              <a:avLst/>
            </a:prstGeom>
            <a:solidFill>
              <a:srgbClr val="D2CFC7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588668" y="2143098"/>
              <a:ext cx="595036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3200">
                  <a:latin typeface="楷体" panose="02010609060101010101" pitchFamily="49" charset="-122"/>
                  <a:ea typeface="楷体" panose="02010609060101010101" pitchFamily="49" charset="-122"/>
                </a:rPr>
                <a:t>01</a:t>
              </a:r>
              <a:endParaRPr kumimoji="1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3" name="文本框 22"/>
          <p:cNvSpPr txBox="1"/>
          <p:nvPr/>
        </p:nvSpPr>
        <p:spPr>
          <a:xfrm>
            <a:off x="6098419" y="3261809"/>
            <a:ext cx="505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课文</a:t>
            </a:r>
            <a:endParaRPr kumimoji="1"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5869051" y="2660588"/>
            <a:ext cx="621672" cy="616819"/>
            <a:chOff x="6124206" y="2143098"/>
            <a:chExt cx="621672" cy="616819"/>
          </a:xfrm>
        </p:grpSpPr>
        <p:sp>
          <p:nvSpPr>
            <p:cNvPr id="25" name="椭圆 24"/>
            <p:cNvSpPr/>
            <p:nvPr/>
          </p:nvSpPr>
          <p:spPr>
            <a:xfrm>
              <a:off x="6124206" y="2172612"/>
              <a:ext cx="587305" cy="587305"/>
            </a:xfrm>
            <a:prstGeom prst="ellipse">
              <a:avLst/>
            </a:prstGeom>
            <a:solidFill>
              <a:srgbClr val="D2CFC7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6150843" y="2143098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>
                  <a:latin typeface="楷体" panose="02010609060101010101" pitchFamily="49" charset="-122"/>
                  <a:ea typeface="楷体" panose="02010609060101010101" pitchFamily="49" charset="-122"/>
                </a:rPr>
                <a:t>02</a:t>
              </a:r>
              <a:endParaRPr kumimoji="1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7" name="文本框 26"/>
          <p:cNvSpPr txBox="1"/>
          <p:nvPr/>
        </p:nvSpPr>
        <p:spPr>
          <a:xfrm>
            <a:off x="7428712" y="3276648"/>
            <a:ext cx="505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注释</a:t>
            </a:r>
            <a:endParaRPr kumimoji="1"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7242277" y="2630317"/>
            <a:ext cx="595035" cy="616819"/>
            <a:chOff x="7856658" y="2159375"/>
            <a:chExt cx="595035" cy="616819"/>
          </a:xfrm>
        </p:grpSpPr>
        <p:sp>
          <p:nvSpPr>
            <p:cNvPr id="29" name="椭圆 28"/>
            <p:cNvSpPr/>
            <p:nvPr/>
          </p:nvSpPr>
          <p:spPr>
            <a:xfrm>
              <a:off x="7856658" y="2188889"/>
              <a:ext cx="587305" cy="587305"/>
            </a:xfrm>
            <a:prstGeom prst="ellipse">
              <a:avLst/>
            </a:prstGeom>
            <a:solidFill>
              <a:srgbClr val="D2CFC7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7856658" y="2159375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>
                  <a:latin typeface="楷体" panose="02010609060101010101" pitchFamily="49" charset="-122"/>
                  <a:ea typeface="楷体" panose="02010609060101010101" pitchFamily="49" charset="-122"/>
                </a:rPr>
                <a:t>03</a:t>
              </a:r>
              <a:endParaRPr kumimoji="1"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879372" y="3272850"/>
            <a:ext cx="505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语音</a:t>
            </a:r>
            <a:endParaRPr kumimoji="1"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8581855" y="2660588"/>
            <a:ext cx="601050" cy="602827"/>
            <a:chOff x="9591822" y="2123858"/>
            <a:chExt cx="601050" cy="602827"/>
          </a:xfrm>
        </p:grpSpPr>
        <p:sp>
          <p:nvSpPr>
            <p:cNvPr id="33" name="椭圆 32"/>
            <p:cNvSpPr/>
            <p:nvPr/>
          </p:nvSpPr>
          <p:spPr>
            <a:xfrm>
              <a:off x="9605567" y="2139380"/>
              <a:ext cx="587305" cy="587305"/>
            </a:xfrm>
            <a:prstGeom prst="ellipse">
              <a:avLst/>
            </a:prstGeom>
            <a:solidFill>
              <a:srgbClr val="D2CFC7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591822" y="2123858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>
                  <a:latin typeface="楷体" panose="02010609060101010101" pitchFamily="49" charset="-122"/>
                  <a:ea typeface="楷体" panose="02010609060101010101" pitchFamily="49" charset="-122"/>
                </a:rPr>
                <a:t>04</a:t>
              </a:r>
              <a:endParaRPr kumimoji="1"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2" name="文本框 30"/>
          <p:cNvSpPr txBox="1"/>
          <p:nvPr/>
        </p:nvSpPr>
        <p:spPr>
          <a:xfrm>
            <a:off x="10251266" y="3232993"/>
            <a:ext cx="5055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3600"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练习</a:t>
            </a:r>
            <a:endParaRPr kumimoji="1" lang="zh-CN" altLang="en-US" sz="3600" dirty="0"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</a:endParaRPr>
          </a:p>
        </p:txBody>
      </p:sp>
      <p:grpSp>
        <p:nvGrpSpPr>
          <p:cNvPr id="24" name="组合 37"/>
          <p:cNvGrpSpPr/>
          <p:nvPr/>
        </p:nvGrpSpPr>
        <p:grpSpPr>
          <a:xfrm>
            <a:off x="9960895" y="2661596"/>
            <a:ext cx="601050" cy="602827"/>
            <a:chOff x="9591822" y="2123858"/>
            <a:chExt cx="601050" cy="602827"/>
          </a:xfrm>
        </p:grpSpPr>
        <p:sp>
          <p:nvSpPr>
            <p:cNvPr id="28" name="椭圆 32"/>
            <p:cNvSpPr/>
            <p:nvPr/>
          </p:nvSpPr>
          <p:spPr>
            <a:xfrm>
              <a:off x="9605567" y="2139380"/>
              <a:ext cx="587305" cy="587305"/>
            </a:xfrm>
            <a:prstGeom prst="ellipse">
              <a:avLst/>
            </a:prstGeom>
            <a:solidFill>
              <a:srgbClr val="D2CFC7"/>
            </a:solidFill>
            <a:ln>
              <a:noFill/>
            </a:ln>
            <a:effectLst>
              <a:outerShdw blurRad="635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ea typeface="楷体" panose="02010609060101010101" pitchFamily="49" charset="-122"/>
              </a:endParaRPr>
            </a:p>
          </p:txBody>
        </p:sp>
        <p:sp>
          <p:nvSpPr>
            <p:cNvPr id="32" name="文本框 33"/>
            <p:cNvSpPr txBox="1"/>
            <p:nvPr/>
          </p:nvSpPr>
          <p:spPr>
            <a:xfrm>
              <a:off x="9591822" y="2123858"/>
              <a:ext cx="595035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zh-CN" sz="3200">
                  <a:latin typeface="楷体" panose="02010609060101010101" pitchFamily="49" charset="-122"/>
                  <a:ea typeface="楷体" panose="02010609060101010101" pitchFamily="49" charset="-122"/>
                </a:rPr>
                <a:t>05</a:t>
              </a:r>
              <a:endParaRPr kumimoji="1" lang="zh-CN" altLang="en-US" sz="36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3" grpId="0"/>
      <p:bldP spid="27" grpId="0"/>
      <p:bldP spid="31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9" name="矩形 13"/>
          <p:cNvSpPr/>
          <p:nvPr/>
        </p:nvSpPr>
        <p:spPr>
          <a:xfrm>
            <a:off x="1532924" y="1761578"/>
            <a:ext cx="9938658" cy="3308479"/>
          </a:xfrm>
          <a:prstGeom prst="rect">
            <a:avLst/>
          </a:prstGeom>
          <a:noFill/>
          <a:ln>
            <a:solidFill>
              <a:srgbClr val="F7F9F3"/>
            </a:solidFill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86181" y="1992864"/>
            <a:ext cx="9938658" cy="3308479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730385" y="2385993"/>
            <a:ext cx="1" cy="25118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7407473" y="2384425"/>
            <a:ext cx="1292662" cy="21647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7200" spc="500">
                <a:solidFill>
                  <a:srgbClr val="C00000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生词</a:t>
            </a:r>
            <a:endParaRPr kumimoji="1" lang="zh-CN" altLang="en-US" sz="7200" b="1" spc="500" dirty="0">
              <a:solidFill>
                <a:srgbClr val="C00000"/>
              </a:solidFill>
              <a:uFillTx/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55520" y="1772285"/>
            <a:ext cx="73152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0" b="1" dirty="0">
                <a:solidFill>
                  <a:srgbClr val="A39A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78" y="1466922"/>
            <a:ext cx="2417395" cy="3371850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D2CFC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2" y="159657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2" y="72573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790201"/>
              </p:ext>
            </p:extLst>
          </p:nvPr>
        </p:nvGraphicFramePr>
        <p:xfrm>
          <a:off x="307738" y="258525"/>
          <a:ext cx="7719640" cy="6359991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929910">
                  <a:extLst>
                    <a:ext uri="{9D8B030D-6E8A-4147-A177-3AD203B41FA5}">
                      <a16:colId xmlns:a16="http://schemas.microsoft.com/office/drawing/2014/main" val="4075831943"/>
                    </a:ext>
                  </a:extLst>
                </a:gridCol>
                <a:gridCol w="1929910">
                  <a:extLst>
                    <a:ext uri="{9D8B030D-6E8A-4147-A177-3AD203B41FA5}">
                      <a16:colId xmlns:a16="http://schemas.microsoft.com/office/drawing/2014/main" val="2392612694"/>
                    </a:ext>
                  </a:extLst>
                </a:gridCol>
                <a:gridCol w="1929910">
                  <a:extLst>
                    <a:ext uri="{9D8B030D-6E8A-4147-A177-3AD203B41FA5}">
                      <a16:colId xmlns:a16="http://schemas.microsoft.com/office/drawing/2014/main" val="136850600"/>
                    </a:ext>
                  </a:extLst>
                </a:gridCol>
                <a:gridCol w="1929910">
                  <a:extLst>
                    <a:ext uri="{9D8B030D-6E8A-4147-A177-3AD203B41FA5}">
                      <a16:colId xmlns:a16="http://schemas.microsoft.com/office/drawing/2014/main" val="786815516"/>
                    </a:ext>
                  </a:extLst>
                </a:gridCol>
              </a:tblGrid>
              <a:tr h="10601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旅游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lǚyóu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踢足球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tī zúqiú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8628804"/>
                  </a:ext>
                </a:extLst>
              </a:tr>
              <a:tr h="10601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觉得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juéde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一起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yīqǐ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121198"/>
                  </a:ext>
                </a:extLst>
              </a:tr>
              <a:tr h="10601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最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zuì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要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yào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2091686"/>
                  </a:ext>
                </a:extLst>
              </a:tr>
              <a:tr h="10601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为什么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wèishénme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新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xīn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8768938"/>
                  </a:ext>
                </a:extLst>
              </a:tr>
              <a:tr h="106010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也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yě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6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它</a:t>
                      </a:r>
                      <a:endParaRPr lang="en-US" sz="36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tā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1295004"/>
                  </a:ext>
                </a:extLst>
              </a:tr>
              <a:tr h="1059481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运动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yùndòng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眼睛</a:t>
                      </a:r>
                      <a:endParaRPr lang="en-US" sz="320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24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yǎnjīng </a:t>
                      </a:r>
                      <a:endParaRPr lang="en-US" sz="24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101584"/>
                  </a:ext>
                </a:extLst>
              </a:tr>
            </a:tbl>
          </a:graphicData>
        </a:graphic>
      </p:graphicFrame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8571" y="-33673"/>
            <a:ext cx="3294741" cy="67537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957053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107711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119086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906017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旅游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lǚyóu</a:t>
                      </a:r>
                      <a:endParaRPr lang="en-US" sz="2800" i="1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du</a:t>
                      </a:r>
                      <a:r>
                        <a:rPr lang="en-US" sz="28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lịch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75357" y="2757356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明年我会去中国旅游。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>
                <a:latin typeface="+mj-lt"/>
                <a:cs typeface="Times New Roman" panose="02020603050405020304" pitchFamily="18" charset="0"/>
              </a:rPr>
              <a:t>/Míngnián wǒ huì qù Zhōngguó lǚyóu/</a:t>
            </a:r>
            <a:endParaRPr lang="en-US" altLang="zh-CN" sz="3200" i="1">
              <a:latin typeface="+mj-lt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我喜欢去旅游。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>
                <a:latin typeface="+mj-lt"/>
                <a:cs typeface="Times New Roman" panose="02020603050405020304" pitchFamily="18" charset="0"/>
              </a:rPr>
              <a:t>/Wǒ xǐhuān qù lǚyóu/</a:t>
            </a:r>
            <a:endParaRPr lang="zh-CN" altLang="en-US" sz="3200" i="1">
              <a:latin typeface="+mj-lt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 descr="旅的笔顺动画">
            <a:extLst>
              <a:ext uri="{FF2B5EF4-FFF2-40B4-BE49-F238E27FC236}">
                <a16:creationId xmlns:a16="http://schemas.microsoft.com/office/drawing/2014/main" id="{FB2A784C-4FF0-4FFB-848E-23E590BD0B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610" y="1813558"/>
            <a:ext cx="1974850" cy="197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游的笔顺动画">
            <a:extLst>
              <a:ext uri="{FF2B5EF4-FFF2-40B4-BE49-F238E27FC236}">
                <a16:creationId xmlns:a16="http://schemas.microsoft.com/office/drawing/2014/main" id="{86A6CB28-4E72-4BBE-84D8-67A640E93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525" y="4191136"/>
            <a:ext cx="1974850" cy="197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124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587381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223825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057424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觉得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juéd</a:t>
                      </a:r>
                      <a:r>
                        <a:rPr lang="en-US" altLang="zh-CN" sz="28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endParaRPr lang="en-US" sz="2800" i="1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cảm</a:t>
                      </a:r>
                      <a:r>
                        <a:rPr 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thấy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13183" y="2966023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我觉得很累。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/>
              <a:t>/Wǒ juéde hěn lèi/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你觉得怎么样？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/>
              <a:t>/Nǐ juéde zěnme yàng?/</a:t>
            </a:r>
            <a:endParaRPr lang="zh-CN" altLang="en-US" sz="320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2050" name="Picture 2" descr="觉的笔顺动画">
            <a:extLst>
              <a:ext uri="{FF2B5EF4-FFF2-40B4-BE49-F238E27FC236}">
                <a16:creationId xmlns:a16="http://schemas.microsoft.com/office/drawing/2014/main" id="{6BD21940-3D39-4054-AF1B-FAB550BD98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1162" y="2786019"/>
            <a:ext cx="2334970" cy="2334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9930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876566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122225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159024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最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zuì</a:t>
                      </a:r>
                      <a:endParaRPr lang="en-US" sz="2800" i="1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nhất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50242" y="2955638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我最喜欢吃苹果。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/>
              <a:t>/Wǒ zuì xǐhuān chī píngguǒ/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这个最好看。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/>
              <a:t>/Zhègè zuì hǎo kàn/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3074" name="Picture 2" descr="最的笔顺动画">
            <a:extLst>
              <a:ext uri="{FF2B5EF4-FFF2-40B4-BE49-F238E27FC236}">
                <a16:creationId xmlns:a16="http://schemas.microsoft.com/office/drawing/2014/main" id="{A1D1E1DA-64AE-430B-90C5-DABB517CD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2032" y="2545953"/>
            <a:ext cx="2366737" cy="2366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0043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520000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136739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144510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为什么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wèishénme</a:t>
                      </a:r>
                      <a:r>
                        <a:rPr lang="en-US" sz="28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tại</a:t>
                      </a:r>
                      <a:r>
                        <a:rPr 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sao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96456" y="2675262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你为什么学习汉语。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wèishéme xuéxí hànyǔ/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你为什么这么做？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wèishénme zhème zuò?/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2322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017091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093197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188052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也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yě</a:t>
                      </a:r>
                      <a:endParaRPr lang="en-US" sz="28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cũng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013342" y="2868160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我也很喜欢旅游。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/Wǒ yě hěn xǐhuān lǚyóu/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你也是越南人吗？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yěshì yuènán rén ma?/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07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166762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238339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042910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运动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yùndòng</a:t>
                      </a:r>
                      <a:endParaRPr lang="en-US" sz="2800" i="1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vận</a:t>
                      </a:r>
                      <a:r>
                        <a:rPr 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653124" y="2803505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你喜欢什么运动？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xǐhuān shénme yùndòng?/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你要多多运动。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yào duōduō yùndòng/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81993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457409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165768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115481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踢足球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tī</a:t>
                      </a:r>
                      <a:r>
                        <a:rPr lang="en-GB" sz="28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zúqiú</a:t>
                      </a:r>
                      <a:endParaRPr lang="en-US" sz="2800" i="1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đá</a:t>
                      </a:r>
                      <a:r>
                        <a:rPr lang="en-US" sz="28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bóng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976956" y="2805870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他去踢足球了。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/Tā qù tī zúqiú le/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你会踢足球吗？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huì tī zúqiú ma?/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4098" name="Picture 2" descr="踢的笔顺动画">
            <a:extLst>
              <a:ext uri="{FF2B5EF4-FFF2-40B4-BE49-F238E27FC236}">
                <a16:creationId xmlns:a16="http://schemas.microsoft.com/office/drawing/2014/main" id="{AEA1A0BC-17E8-4CF4-9452-564B28175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41" y="1713901"/>
            <a:ext cx="2174651" cy="2174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球的笔顺动画">
            <a:extLst>
              <a:ext uri="{FF2B5EF4-FFF2-40B4-BE49-F238E27FC236}">
                <a16:creationId xmlns:a16="http://schemas.microsoft.com/office/drawing/2014/main" id="{01FEB017-8685-416B-9F2B-306A41FBC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240" y="4209750"/>
            <a:ext cx="2174652" cy="2174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782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028136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006111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275138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i="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一起</a:t>
                      </a:r>
                      <a:endParaRPr lang="en-US" sz="4400" i="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yīqǐ</a:t>
                      </a:r>
                      <a:endParaRPr lang="en-US" sz="28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cùng</a:t>
                      </a:r>
                      <a:r>
                        <a:rPr lang="en-US" sz="28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nhau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291235" y="2835380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我们一起去旅游。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  <a:tabLst>
                <a:tab pos="461963" algn="l"/>
              </a:tabLst>
            </a:pPr>
            <a:r>
              <a:rPr lang="en-US" i="1"/>
              <a:t>/Wǒmen yīqǐ qù lǚyóu/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你跟他在一起吗？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  <a:tabLst>
                <a:tab pos="461963" algn="l"/>
              </a:tabLst>
            </a:pPr>
            <a:r>
              <a:rPr lang="en-US" i="1"/>
              <a:t>/Nǐ gēn tā zài yīqǐ ma?/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0623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352848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1977082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304167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要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yào</a:t>
                      </a:r>
                      <a:endParaRPr lang="en-US" sz="28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cần</a:t>
                      </a:r>
                      <a:r>
                        <a:rPr 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muốn</a:t>
                      </a:r>
                      <a:r>
                        <a:rPr 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2800" baseline="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baseline="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44006" y="2799693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你要买什么？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yào mǎi shénme?/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你还要别的吗？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fr-FR" i="1"/>
              <a:t>/Nǐ hái yào bié de ma?/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5122" name="Picture 2" descr="要的笔顺动画">
            <a:extLst>
              <a:ext uri="{FF2B5EF4-FFF2-40B4-BE49-F238E27FC236}">
                <a16:creationId xmlns:a16="http://schemas.microsoft.com/office/drawing/2014/main" id="{0ED9BD45-8741-4BB2-95F4-DBF1638FB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124" y="2610777"/>
            <a:ext cx="2259718" cy="2259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381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72192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1390397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890852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新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xīn</a:t>
                      </a:r>
                      <a:r>
                        <a:rPr lang="en-US" sz="2800" i="1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mới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799105" y="3251469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你的车是新的还是旧的。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/>
              <a:t>/Nǐ de chē shì xīn de háishì jiù de/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这位是新同学。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/>
              <a:t>/Zhè wèi shì xīn tóngxué/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6146" name="Picture 2" descr="新的笔顺动画">
            <a:extLst>
              <a:ext uri="{FF2B5EF4-FFF2-40B4-BE49-F238E27FC236}">
                <a16:creationId xmlns:a16="http://schemas.microsoft.com/office/drawing/2014/main" id="{A4E228E7-7AC6-4183-8417-E7E21B2E9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6564" y="2798887"/>
            <a:ext cx="2220644" cy="2220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6583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3337993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006111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275138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sz="280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它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tā</a:t>
                      </a:r>
                      <a:endParaRPr lang="en-US" sz="2800" i="1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代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nó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99463" y="2705802"/>
            <a:ext cx="5451434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我家的猫，它很喜欢吃鱼。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/>
              <a:t>/Wǒjiā de māo, tā hěn xǐhuān chī yú/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它是谁的狗？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461963">
              <a:lnSpc>
                <a:spcPct val="150000"/>
              </a:lnSpc>
            </a:pPr>
            <a:r>
              <a:rPr lang="en-US" i="1"/>
              <a:t>/Tā shì shéi de gǒu?/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643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454169"/>
              </p:ext>
            </p:extLst>
          </p:nvPr>
        </p:nvGraphicFramePr>
        <p:xfrm>
          <a:off x="527891" y="341846"/>
          <a:ext cx="11246355" cy="943497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1032">
                  <a:extLst>
                    <a:ext uri="{9D8B030D-6E8A-4147-A177-3AD203B41FA5}">
                      <a16:colId xmlns:a16="http://schemas.microsoft.com/office/drawing/2014/main" val="2202104351"/>
                    </a:ext>
                  </a:extLst>
                </a:gridCol>
                <a:gridCol w="3202509">
                  <a:extLst>
                    <a:ext uri="{9D8B030D-6E8A-4147-A177-3AD203B41FA5}">
                      <a16:colId xmlns:a16="http://schemas.microsoft.com/office/drawing/2014/main" val="2745890476"/>
                    </a:ext>
                  </a:extLst>
                </a:gridCol>
                <a:gridCol w="2035139">
                  <a:extLst>
                    <a:ext uri="{9D8B030D-6E8A-4147-A177-3AD203B41FA5}">
                      <a16:colId xmlns:a16="http://schemas.microsoft.com/office/drawing/2014/main" val="3124700928"/>
                    </a:ext>
                  </a:extLst>
                </a:gridCol>
                <a:gridCol w="2246110">
                  <a:extLst>
                    <a:ext uri="{9D8B030D-6E8A-4147-A177-3AD203B41FA5}">
                      <a16:colId xmlns:a16="http://schemas.microsoft.com/office/drawing/2014/main" val="1988061017"/>
                    </a:ext>
                  </a:extLst>
                </a:gridCol>
                <a:gridCol w="2851565">
                  <a:extLst>
                    <a:ext uri="{9D8B030D-6E8A-4147-A177-3AD203B41FA5}">
                      <a16:colId xmlns:a16="http://schemas.microsoft.com/office/drawing/2014/main" val="348576220"/>
                    </a:ext>
                  </a:extLst>
                </a:gridCol>
              </a:tblGrid>
              <a:tr h="94349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sz="280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4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眼睛</a:t>
                      </a:r>
                      <a:endParaRPr lang="en-US" sz="4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yǎnj</a:t>
                      </a:r>
                      <a:r>
                        <a:rPr lang="en-US" altLang="zh-CN" sz="2800" i="1" kern="12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GB" sz="2800" i="1" kern="12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ea typeface="STXihei" panose="02010600040101010101" pitchFamily="2" charset="-122"/>
                          <a:cs typeface="Times New Roman" panose="02020603050405020304" pitchFamily="18" charset="0"/>
                        </a:rPr>
                        <a:t>ng</a:t>
                      </a:r>
                      <a:endParaRPr lang="en-US" sz="2800" i="1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STXihei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800" dirty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KaiTi" panose="02010609060101010101" pitchFamily="49" charset="-122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 err="1">
                          <a:solidFill>
                            <a:schemeClr val="tx2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mắt</a:t>
                      </a:r>
                      <a:endParaRPr lang="en-US" sz="28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7C6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9525595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9077345" y="2371785"/>
            <a:ext cx="2334970" cy="4151736"/>
          </a:xfrm>
          <a:prstGeom prst="rect">
            <a:avLst/>
          </a:prstGeom>
          <a:noFill/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322045" y="2557294"/>
            <a:ext cx="2334970" cy="4151736"/>
          </a:xfrm>
          <a:prstGeom prst="rect">
            <a:avLst/>
          </a:prstGeom>
          <a:solidFill>
            <a:schemeClr val="bg1"/>
          </a:solidFill>
          <a:ln w="28575">
            <a:solidFill>
              <a:srgbClr val="A39A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322045" y="2545953"/>
            <a:ext cx="2334970" cy="4151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21656" y="2830530"/>
            <a:ext cx="4855689" cy="2350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1.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他的眼睛很大。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/Tā de yǎnjīng hěn dà/</a:t>
            </a:r>
            <a:endParaRPr lang="en-US" altLang="zh-CN" sz="3200" i="1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>
                <a:latin typeface="KaiTi" panose="02010609060101010101" pitchFamily="49" charset="-122"/>
                <a:ea typeface="KaiTi" panose="02010609060101010101" pitchFamily="49" charset="-122"/>
              </a:rPr>
              <a:t>2.</a:t>
            </a:r>
            <a:r>
              <a:rPr lang="zh-CN" altLang="en-US" sz="3200">
                <a:latin typeface="KaiTi" panose="02010609060101010101" pitchFamily="49" charset="-122"/>
                <a:ea typeface="KaiTi" panose="02010609060101010101" pitchFamily="49" charset="-122"/>
              </a:rPr>
              <a:t>你眼睛很漂亮。</a:t>
            </a:r>
            <a:endParaRPr lang="en-US" altLang="zh-CN" sz="320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396875">
              <a:lnSpc>
                <a:spcPct val="150000"/>
              </a:lnSpc>
            </a:pPr>
            <a:r>
              <a:rPr lang="en-US" i="1"/>
              <a:t>/Nǐ yǎnjīng hěn piàoliang/</a:t>
            </a:r>
            <a:endParaRPr lang="zh-CN" altLang="en-US" sz="3200" i="1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7170" name="Picture 2" descr="眼的笔顺动画">
            <a:extLst>
              <a:ext uri="{FF2B5EF4-FFF2-40B4-BE49-F238E27FC236}">
                <a16:creationId xmlns:a16="http://schemas.microsoft.com/office/drawing/2014/main" id="{6BCF0AA9-B19D-4352-B3D5-E7C770E2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69" y="1841825"/>
            <a:ext cx="1991265" cy="1991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睛的笔顺动画">
            <a:extLst>
              <a:ext uri="{FF2B5EF4-FFF2-40B4-BE49-F238E27FC236}">
                <a16:creationId xmlns:a16="http://schemas.microsoft.com/office/drawing/2014/main" id="{9639C370-B363-4B3F-93A3-0911C53E0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369" y="4376253"/>
            <a:ext cx="1991266" cy="1991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5822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9" name="矩形 13"/>
          <p:cNvSpPr/>
          <p:nvPr/>
        </p:nvSpPr>
        <p:spPr>
          <a:xfrm>
            <a:off x="1532924" y="1761578"/>
            <a:ext cx="9938658" cy="3308479"/>
          </a:xfrm>
          <a:prstGeom prst="rect">
            <a:avLst/>
          </a:prstGeom>
          <a:noFill/>
          <a:ln>
            <a:solidFill>
              <a:srgbClr val="F7F9F3"/>
            </a:solidFill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86181" y="1992864"/>
            <a:ext cx="9938658" cy="3308479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730385" y="2385993"/>
            <a:ext cx="1" cy="25118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7407473" y="2384425"/>
            <a:ext cx="1292662" cy="21647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7200" spc="500">
                <a:solidFill>
                  <a:srgbClr val="C00000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课文</a:t>
            </a:r>
            <a:endParaRPr kumimoji="1" lang="zh-CN" altLang="en-US" sz="7200" b="1" spc="500" dirty="0">
              <a:solidFill>
                <a:srgbClr val="C00000"/>
              </a:solidFill>
              <a:uFillTx/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55520" y="1772285"/>
            <a:ext cx="73152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0" b="1">
                <a:solidFill>
                  <a:srgbClr val="A39A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en-US" altLang="zh-CN" sz="30000" b="1" dirty="0">
              <a:solidFill>
                <a:srgbClr val="A39A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78" y="1466922"/>
            <a:ext cx="2417395" cy="3371850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806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571307" y="145143"/>
            <a:ext cx="5432007" cy="2530059"/>
          </a:xfrm>
          <a:prstGeom prst="rect">
            <a:avLst/>
          </a:prstGeom>
        </p:spPr>
      </p:pic>
      <p:sp>
        <p:nvSpPr>
          <p:cNvPr id="11" name="TextBox 1"/>
          <p:cNvSpPr txBox="1"/>
          <p:nvPr/>
        </p:nvSpPr>
        <p:spPr>
          <a:xfrm>
            <a:off x="217498" y="-65814"/>
            <a:ext cx="738664" cy="251197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36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第一课文</a:t>
            </a:r>
            <a:endParaRPr lang="zh-CN" altLang="en-US" sz="36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6" name="组合 1">
            <a:extLst>
              <a:ext uri="{FF2B5EF4-FFF2-40B4-BE49-F238E27FC236}">
                <a16:creationId xmlns:a16="http://schemas.microsoft.com/office/drawing/2014/main" id="{0FB7E7F8-E26C-452E-9A46-C1F859401D27}"/>
              </a:ext>
            </a:extLst>
          </p:cNvPr>
          <p:cNvGrpSpPr/>
          <p:nvPr/>
        </p:nvGrpSpPr>
        <p:grpSpPr>
          <a:xfrm>
            <a:off x="656316" y="1196416"/>
            <a:ext cx="10011489" cy="5535519"/>
            <a:chOff x="2913453" y="3226833"/>
            <a:chExt cx="6125501" cy="5535519"/>
          </a:xfrm>
        </p:grpSpPr>
        <p:sp>
          <p:nvSpPr>
            <p:cNvPr id="7" name="Title 4">
              <a:extLst>
                <a:ext uri="{FF2B5EF4-FFF2-40B4-BE49-F238E27FC236}">
                  <a16:creationId xmlns:a16="http://schemas.microsoft.com/office/drawing/2014/main" id="{7A91627A-C310-4240-A329-CEC794D30DEA}"/>
                </a:ext>
              </a:extLst>
            </p:cNvPr>
            <p:cNvSpPr txBox="1"/>
            <p:nvPr/>
          </p:nvSpPr>
          <p:spPr>
            <a:xfrm>
              <a:off x="2913453" y="3226833"/>
              <a:ext cx="3802529" cy="639799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pPr>
                <a:lnSpc>
                  <a:spcPct val="1000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zh-CN" altLang="en-US" sz="4400" b="1" spc="30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在学校</a:t>
              </a:r>
            </a:p>
          </p:txBody>
        </p:sp>
        <p:sp>
          <p:nvSpPr>
            <p:cNvPr id="8" name="TextBox 15">
              <a:extLst>
                <a:ext uri="{FF2B5EF4-FFF2-40B4-BE49-F238E27FC236}">
                  <a16:creationId xmlns:a16="http://schemas.microsoft.com/office/drawing/2014/main" id="{174583A0-D646-4223-A00D-838631F61A45}"/>
                </a:ext>
              </a:extLst>
            </p:cNvPr>
            <p:cNvSpPr txBox="1"/>
            <p:nvPr/>
          </p:nvSpPr>
          <p:spPr>
            <a:xfrm>
              <a:off x="2945178" y="4145704"/>
              <a:ext cx="6093776" cy="4616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：我要去北京旅游你觉得什么时候去最好？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/Wǒ yào qù Běijīng lǚyóu nǐ juéde shénme shíhòu qù zuì hǎo?/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：九月去北京旅游最好。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/Jiǔ yuè qù Běijīng lǚyóu zuì hǎo/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：为什么？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/Wèishénme?/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：九月的北京天气不冷也不热？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/Jiǔ yuè de Běijīng tiānqì bù lěng yě bù rè?/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674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15">
            <a:extLst>
              <a:ext uri="{FF2B5EF4-FFF2-40B4-BE49-F238E27FC236}">
                <a16:creationId xmlns:a16="http://schemas.microsoft.com/office/drawing/2014/main" id="{174583A0-D646-4223-A00D-838631F61A45}"/>
              </a:ext>
            </a:extLst>
          </p:cNvPr>
          <p:cNvSpPr txBox="1"/>
          <p:nvPr/>
        </p:nvSpPr>
        <p:spPr>
          <a:xfrm>
            <a:off x="1748112" y="1251875"/>
            <a:ext cx="9959638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：你喜欢什么运动？</a:t>
            </a:r>
            <a:endParaRPr lang="en-US" altLang="zh-CN" sz="3600">
              <a:solidFill>
                <a:srgbClr val="001A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4213">
              <a:spcBef>
                <a:spcPts val="600"/>
              </a:spcBef>
              <a:spcAft>
                <a:spcPts val="600"/>
              </a:spcAft>
            </a:pPr>
            <a:r>
              <a:rPr lang="en-US" i="1">
                <a:solidFill>
                  <a:srgbClr val="00B050"/>
                </a:solidFill>
              </a:rPr>
              <a:t>/Nǐ xǐhuān shénme yùndòng? /</a:t>
            </a:r>
            <a:endParaRPr lang="zh-CN" altLang="en-US" i="1">
              <a:solidFill>
                <a:srgbClr val="00B05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</a:t>
            </a:r>
            <a:r>
              <a:rPr lang="zh-CN" altLang="en-US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：我最喜欢踢足球。</a:t>
            </a:r>
            <a:endParaRPr lang="en-US" altLang="zh-CN" sz="360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4213">
              <a:spcBef>
                <a:spcPts val="600"/>
              </a:spcBef>
              <a:spcAft>
                <a:spcPts val="600"/>
              </a:spcAft>
            </a:pPr>
            <a:r>
              <a:rPr lang="en-US" i="1">
                <a:solidFill>
                  <a:srgbClr val="00B050"/>
                </a:solidFill>
              </a:rPr>
              <a:t>/Wǒ zuì xǐhuān tī zúqiú/</a:t>
            </a:r>
            <a:endParaRPr lang="zh-CN" altLang="en-US" i="1">
              <a:solidFill>
                <a:srgbClr val="00B05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A</a:t>
            </a:r>
            <a:r>
              <a:rPr lang="zh-CN" altLang="en-US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：下午我们一起去踢足球吧？</a:t>
            </a:r>
            <a:endParaRPr lang="en-US" altLang="zh-CN" sz="3600">
              <a:solidFill>
                <a:srgbClr val="001A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4213">
              <a:spcBef>
                <a:spcPts val="600"/>
              </a:spcBef>
              <a:spcAft>
                <a:spcPts val="600"/>
              </a:spcAft>
            </a:pPr>
            <a:r>
              <a:rPr lang="en-US" i="1">
                <a:solidFill>
                  <a:srgbClr val="00B050"/>
                </a:solidFill>
              </a:rPr>
              <a:t>/Xiàwǔ wǒmen yīqǐ qù tī zúqiú ba?/</a:t>
            </a:r>
            <a:endParaRPr lang="zh-CN" altLang="en-US" i="1">
              <a:solidFill>
                <a:srgbClr val="00B05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B</a:t>
            </a:r>
            <a:r>
              <a:rPr lang="zh-CN" altLang="en-US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：好啊！</a:t>
            </a:r>
            <a:endParaRPr lang="en-US" altLang="zh-CN" sz="360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684213">
              <a:spcBef>
                <a:spcPts val="600"/>
              </a:spcBef>
              <a:spcAft>
                <a:spcPts val="600"/>
              </a:spcAft>
            </a:pPr>
            <a:r>
              <a:rPr lang="en-US" i="1">
                <a:solidFill>
                  <a:srgbClr val="00B050"/>
                </a:solidFill>
              </a:rPr>
              <a:t>/Hǎo a!/</a:t>
            </a:r>
            <a:endParaRPr lang="zh-CN" altLang="en-US" i="1">
              <a:solidFill>
                <a:srgbClr val="00B05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Box 1"/>
          <p:cNvSpPr txBox="1"/>
          <p:nvPr/>
        </p:nvSpPr>
        <p:spPr>
          <a:xfrm>
            <a:off x="217498" y="-65814"/>
            <a:ext cx="738664" cy="251197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36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第二课文</a:t>
            </a:r>
            <a:endParaRPr lang="zh-CN" altLang="en-US" sz="36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5143" y="504660"/>
            <a:ext cx="4238171" cy="635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45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"/>
          <p:cNvSpPr txBox="1"/>
          <p:nvPr/>
        </p:nvSpPr>
        <p:spPr>
          <a:xfrm>
            <a:off x="217498" y="-65814"/>
            <a:ext cx="738664" cy="251197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36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第三课文</a:t>
            </a:r>
            <a:endParaRPr lang="zh-CN" altLang="en-US" sz="36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99388" y="763226"/>
            <a:ext cx="5803925" cy="3624047"/>
          </a:xfrm>
          <a:prstGeom prst="rect">
            <a:avLst/>
          </a:prstGeom>
        </p:spPr>
      </p:pic>
      <p:grpSp>
        <p:nvGrpSpPr>
          <p:cNvPr id="7" name="组合 1">
            <a:extLst>
              <a:ext uri="{FF2B5EF4-FFF2-40B4-BE49-F238E27FC236}">
                <a16:creationId xmlns:a16="http://schemas.microsoft.com/office/drawing/2014/main" id="{0FB7E7F8-E26C-452E-9A46-C1F859401D27}"/>
              </a:ext>
            </a:extLst>
          </p:cNvPr>
          <p:cNvGrpSpPr/>
          <p:nvPr/>
        </p:nvGrpSpPr>
        <p:grpSpPr>
          <a:xfrm>
            <a:off x="586830" y="1175292"/>
            <a:ext cx="10080975" cy="5198653"/>
            <a:chOff x="2870938" y="3440589"/>
            <a:chExt cx="6168016" cy="5198653"/>
          </a:xfrm>
        </p:grpSpPr>
        <p:sp>
          <p:nvSpPr>
            <p:cNvPr id="10" name="Title 4">
              <a:extLst>
                <a:ext uri="{FF2B5EF4-FFF2-40B4-BE49-F238E27FC236}">
                  <a16:creationId xmlns:a16="http://schemas.microsoft.com/office/drawing/2014/main" id="{7A91627A-C310-4240-A329-CEC794D30DEA}"/>
                </a:ext>
              </a:extLst>
            </p:cNvPr>
            <p:cNvSpPr txBox="1"/>
            <p:nvPr/>
          </p:nvSpPr>
          <p:spPr>
            <a:xfrm>
              <a:off x="2870938" y="3440589"/>
              <a:ext cx="3802529" cy="639799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r>
                <a:rPr lang="zh-CN" altLang="en-US" sz="4400" b="1" spc="30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在家里</a:t>
              </a: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174583A0-D646-4223-A00D-838631F61A45}"/>
                </a:ext>
              </a:extLst>
            </p:cNvPr>
            <p:cNvSpPr txBox="1"/>
            <p:nvPr/>
          </p:nvSpPr>
          <p:spPr>
            <a:xfrm>
              <a:off x="2945178" y="4145704"/>
              <a:ext cx="6093776" cy="4493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：我们要不要买几个新的椅子？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684213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/Wǒmen yào bù yāo mǎi jǐ gè xīn de yǐzi?/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：好啊，什么时候去买。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684213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/Hǎo a, shénme shíhòu qù mǎi. 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：明天下午怎么样？你明天几点能回来？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684213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/Míngtiān xiàwǔ zěnme yàng? Nǐ míngtiān jǐ diǎn néng huílái?/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：三点多。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684213">
                <a:spcBef>
                  <a:spcPts val="600"/>
                </a:spcBef>
                <a:spcAft>
                  <a:spcPts val="600"/>
                </a:spcAft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/Sān diǎn duō/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133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"/>
          <p:cNvSpPr txBox="1"/>
          <p:nvPr/>
        </p:nvSpPr>
        <p:spPr>
          <a:xfrm>
            <a:off x="217498" y="-65814"/>
            <a:ext cx="738664" cy="2511970"/>
          </a:xfrm>
          <a:prstGeom prst="rect">
            <a:avLst/>
          </a:prstGeom>
          <a:noFill/>
          <a:ln w="9525">
            <a:noFill/>
          </a:ln>
        </p:spPr>
        <p:txBody>
          <a:bodyPr vert="eaVert" wrap="square">
            <a:spAutoFit/>
          </a:bodyPr>
          <a:lstStyle/>
          <a:p>
            <a:pPr algn="ctr"/>
            <a:r>
              <a:rPr lang="zh-CN" altLang="en-US" sz="36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第三课文</a:t>
            </a:r>
            <a:endParaRPr lang="zh-CN" altLang="en-US" sz="36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6187324" y="145143"/>
            <a:ext cx="5815989" cy="3283857"/>
          </a:xfrm>
          <a:prstGeom prst="rect">
            <a:avLst/>
          </a:prstGeom>
        </p:spPr>
      </p:pic>
      <p:grpSp>
        <p:nvGrpSpPr>
          <p:cNvPr id="7" name="组合 1">
            <a:extLst>
              <a:ext uri="{FF2B5EF4-FFF2-40B4-BE49-F238E27FC236}">
                <a16:creationId xmlns:a16="http://schemas.microsoft.com/office/drawing/2014/main" id="{0FB7E7F8-E26C-452E-9A46-C1F859401D27}"/>
              </a:ext>
            </a:extLst>
          </p:cNvPr>
          <p:cNvGrpSpPr/>
          <p:nvPr/>
        </p:nvGrpSpPr>
        <p:grpSpPr>
          <a:xfrm>
            <a:off x="1439250" y="412773"/>
            <a:ext cx="10080975" cy="6206621"/>
            <a:chOff x="2870938" y="3440589"/>
            <a:chExt cx="6168016" cy="6206621"/>
          </a:xfrm>
        </p:grpSpPr>
        <p:sp>
          <p:nvSpPr>
            <p:cNvPr id="10" name="Title 4">
              <a:extLst>
                <a:ext uri="{FF2B5EF4-FFF2-40B4-BE49-F238E27FC236}">
                  <a16:creationId xmlns:a16="http://schemas.microsoft.com/office/drawing/2014/main" id="{7A91627A-C310-4240-A329-CEC794D30DEA}"/>
                </a:ext>
              </a:extLst>
            </p:cNvPr>
            <p:cNvSpPr txBox="1"/>
            <p:nvPr/>
          </p:nvSpPr>
          <p:spPr>
            <a:xfrm>
              <a:off x="2870938" y="3440589"/>
              <a:ext cx="3802529" cy="639799"/>
            </a:xfrm>
            <a:prstGeom prst="rect">
              <a:avLst/>
            </a:prstGeom>
          </p:spPr>
          <p:txBody>
            <a:bodyPr/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/>
                  </a:solidFill>
                  <a:latin typeface="Playfair Display Black" charset="0"/>
                  <a:ea typeface="Playfair Display Black" charset="0"/>
                  <a:cs typeface="Playfair Display Black" charset="0"/>
                </a:defRPr>
              </a:lvl1pPr>
            </a:lstStyle>
            <a:p>
              <a:r>
                <a:rPr lang="zh-CN" altLang="en-US" sz="4400" b="1" spc="300">
                  <a:solidFill>
                    <a:srgbClr val="C0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在家里</a:t>
              </a:r>
            </a:p>
          </p:txBody>
        </p:sp>
        <p:sp>
          <p:nvSpPr>
            <p:cNvPr id="12" name="TextBox 15">
              <a:extLst>
                <a:ext uri="{FF2B5EF4-FFF2-40B4-BE49-F238E27FC236}">
                  <a16:creationId xmlns:a16="http://schemas.microsoft.com/office/drawing/2014/main" id="{174583A0-D646-4223-A00D-838631F61A45}"/>
                </a:ext>
              </a:extLst>
            </p:cNvPr>
            <p:cNvSpPr txBox="1"/>
            <p:nvPr/>
          </p:nvSpPr>
          <p:spPr>
            <a:xfrm>
              <a:off x="2945178" y="4145704"/>
              <a:ext cx="6093776" cy="55015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200"/>
                </a:spcBef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：桌子下面有一只猫？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200"/>
                </a:spcBef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/Zhuōzi xiàmiàn yǒuyī zhǐ māo?/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200"/>
                </a:spcBef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：那是我的猫，它叫花花。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200"/>
                </a:spcBef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/Nà shì wǒ de māo, tā jiào Huāhuā./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200"/>
                </a:spcBef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：它很漂亮？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200"/>
                </a:spcBef>
              </a:pPr>
              <a:r>
                <a:rPr lang="en-US" i="1">
                  <a:solidFill>
                    <a:srgbClr val="00B050"/>
                  </a:solidFill>
                  <a:latin typeface="+mj-lt"/>
                </a:rPr>
                <a:t>/</a:t>
              </a: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Tā hěn piàoliang?/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200"/>
                </a:spcBef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B: 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是啊，我觉得他的眼睛最漂亮？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200"/>
                </a:spcBef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/Shì a, wǒ juéde tā de yǎnjīng zuì piàoliang?/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200"/>
                </a:spcBef>
              </a:pPr>
              <a:r>
                <a:rPr lang="en-US" altLang="zh-CN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A</a:t>
              </a:r>
              <a:r>
                <a:rPr lang="zh-CN" altLang="en-US" sz="3600">
                  <a:solidFill>
                    <a:srgbClr val="001A33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：它多大了？</a:t>
              </a:r>
              <a:endParaRPr lang="en-US" altLang="zh-CN" sz="3600">
                <a:solidFill>
                  <a:srgbClr val="001A33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200"/>
                </a:spcBef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/Tā duōdà le?/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  <a:p>
              <a:pPr>
                <a:spcBef>
                  <a:spcPts val="200"/>
                </a:spcBef>
              </a:pPr>
              <a:r>
                <a:rPr lang="en-US" altLang="zh-CN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B</a:t>
              </a:r>
              <a:r>
                <a:rPr lang="zh-CN" altLang="en-US" sz="3600">
                  <a:solidFill>
                    <a:srgbClr val="C00000"/>
                  </a:solidFill>
                  <a:latin typeface="KaiTi" panose="02010609060101010101" pitchFamily="49" charset="-122"/>
                  <a:ea typeface="KaiTi" panose="02010609060101010101" pitchFamily="49" charset="-122"/>
                </a:rPr>
                <a:t>：六个多月了。</a:t>
              </a:r>
              <a:endParaRPr lang="en-US" altLang="zh-CN" sz="36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</a:endParaRPr>
            </a:p>
            <a:p>
              <a:pPr marL="738188">
                <a:spcBef>
                  <a:spcPts val="200"/>
                </a:spcBef>
              </a:pPr>
              <a:r>
                <a:rPr lang="en-US" b="0" i="1">
                  <a:solidFill>
                    <a:srgbClr val="00B050"/>
                  </a:solidFill>
                  <a:effectLst/>
                  <a:latin typeface="+mj-lt"/>
                </a:rPr>
                <a:t> /Liù gè duō yuè le/</a:t>
              </a:r>
              <a:endParaRPr lang="zh-CN" altLang="en-US" i="1">
                <a:solidFill>
                  <a:srgbClr val="00B050"/>
                </a:solidFill>
                <a:latin typeface="+mj-lt"/>
                <a:ea typeface="KaiTi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6599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628056" y="1525519"/>
            <a:ext cx="10899057" cy="4262284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/>
          <a:srcRect l="70727" t="1532" r="19793" b="76452"/>
          <a:stretch>
            <a:fillRect/>
          </a:stretch>
        </p:blipFill>
        <p:spPr>
          <a:xfrm>
            <a:off x="9067702" y="1782936"/>
            <a:ext cx="1293398" cy="1270427"/>
          </a:xfrm>
          <a:prstGeom prst="ellipse">
            <a:avLst/>
          </a:prstGeom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/>
          <a:srcRect l="56247" t="31111" r="32832" b="43492"/>
          <a:stretch>
            <a:fillRect/>
          </a:stretch>
        </p:blipFill>
        <p:spPr>
          <a:xfrm>
            <a:off x="10225684" y="4618902"/>
            <a:ext cx="793431" cy="780409"/>
          </a:xfrm>
          <a:prstGeom prst="ellipse">
            <a:avLst/>
          </a:prstGeom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3682" t="13521" r="74363" b="34288"/>
          <a:stretch>
            <a:fillRect/>
          </a:stretch>
        </p:blipFill>
        <p:spPr>
          <a:xfrm>
            <a:off x="6696275" y="2663823"/>
            <a:ext cx="2795254" cy="2810405"/>
          </a:xfrm>
          <a:prstGeom prst="ellipse">
            <a:avLst/>
          </a:prstGeom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1532768" y="409312"/>
            <a:ext cx="90896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6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根据课文内容回答问题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231721" y="1424975"/>
            <a:ext cx="7753399" cy="42782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>
                <a:latin typeface="KaiTi" panose="02010609060101010101" pitchFamily="49" charset="-122"/>
                <a:ea typeface="KaiTi" panose="02010609060101010101" pitchFamily="49" charset="-122"/>
                <a:cs typeface="华康少女" panose="040F0509000000000000" pitchFamily="81" charset="-122"/>
              </a:rPr>
              <a:t>什么时候去北京旅游最好？为什么？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>
                <a:latin typeface="KaiTi" panose="02010609060101010101" pitchFamily="49" charset="-122"/>
                <a:ea typeface="KaiTi" panose="02010609060101010101" pitchFamily="49" charset="-122"/>
                <a:cs typeface="华康少女" panose="040F0509000000000000" pitchFamily="81" charset="-122"/>
              </a:rPr>
              <a:t>他们下午要做什么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>
                <a:latin typeface="KaiTi" panose="02010609060101010101" pitchFamily="49" charset="-122"/>
                <a:ea typeface="KaiTi" panose="02010609060101010101" pitchFamily="49" charset="-122"/>
                <a:cs typeface="华康少女" panose="040F0509000000000000" pitchFamily="81" charset="-122"/>
              </a:rPr>
              <a:t>他们想什么时候去买椅子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>
                <a:latin typeface="KaiTi" panose="02010609060101010101" pitchFamily="49" charset="-122"/>
                <a:ea typeface="KaiTi" panose="02010609060101010101" pitchFamily="49" charset="-122"/>
                <a:cs typeface="华康少女" panose="040F0509000000000000" pitchFamily="81" charset="-122"/>
              </a:rPr>
              <a:t>花花在哪儿</a:t>
            </a:r>
            <a:r>
              <a:rPr lang="en-US" altLang="zh-CN" sz="2800" b="1">
                <a:latin typeface="KaiTi" panose="02010609060101010101" pitchFamily="49" charset="-122"/>
                <a:ea typeface="KaiTi" panose="02010609060101010101" pitchFamily="49" charset="-122"/>
                <a:cs typeface="华康少女" panose="040F0509000000000000" pitchFamily="81" charset="-122"/>
              </a:rPr>
              <a:t>?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zh-CN" altLang="en-US" sz="2800" b="1">
                <a:latin typeface="KaiTi" panose="02010609060101010101" pitchFamily="49" charset="-122"/>
                <a:ea typeface="KaiTi" panose="02010609060101010101" pitchFamily="49" charset="-122"/>
                <a:cs typeface="华康少女" panose="040F0509000000000000" pitchFamily="81" charset="-122"/>
              </a:rPr>
              <a:t>花花多大了。</a:t>
            </a:r>
          </a:p>
        </p:txBody>
      </p:sp>
    </p:spTree>
    <p:extLst>
      <p:ext uri="{BB962C8B-B14F-4D97-AF65-F5344CB8AC3E}">
        <p14:creationId xmlns:p14="http://schemas.microsoft.com/office/powerpoint/2010/main" val="1097905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9" name="矩形 13"/>
          <p:cNvSpPr/>
          <p:nvPr/>
        </p:nvSpPr>
        <p:spPr>
          <a:xfrm>
            <a:off x="1532924" y="1761578"/>
            <a:ext cx="9938658" cy="3308479"/>
          </a:xfrm>
          <a:prstGeom prst="rect">
            <a:avLst/>
          </a:prstGeom>
          <a:noFill/>
          <a:ln>
            <a:solidFill>
              <a:srgbClr val="F7F9F3"/>
            </a:solidFill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86181" y="1992864"/>
            <a:ext cx="9938658" cy="3308479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730385" y="2385993"/>
            <a:ext cx="1" cy="25118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7407473" y="2384425"/>
            <a:ext cx="1292662" cy="21647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7200" spc="500">
                <a:solidFill>
                  <a:srgbClr val="C00000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注释</a:t>
            </a:r>
            <a:endParaRPr kumimoji="1" lang="zh-CN" altLang="en-US" sz="7200" b="1" spc="500" dirty="0">
              <a:solidFill>
                <a:srgbClr val="C00000"/>
              </a:solidFill>
              <a:uFillTx/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55520" y="1772285"/>
            <a:ext cx="73152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0" b="1">
                <a:solidFill>
                  <a:srgbClr val="A39A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en-US" altLang="zh-CN" sz="30000" b="1" dirty="0">
              <a:solidFill>
                <a:srgbClr val="A39A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78" y="1466922"/>
            <a:ext cx="2417395" cy="3371850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8528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6743" y="1287817"/>
            <a:ext cx="11451771" cy="5446812"/>
          </a:xfrm>
          <a:prstGeom prst="rect">
            <a:avLst/>
          </a:prstGeom>
          <a:noFill/>
          <a:ln w="28575">
            <a:solidFill>
              <a:srgbClr val="F7F9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427899" y="937123"/>
            <a:ext cx="11473544" cy="5666877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40329" y="937123"/>
            <a:ext cx="11442270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fontAlgn="ctr">
              <a:lnSpc>
                <a:spcPct val="150000"/>
              </a:lnSpc>
            </a:pPr>
            <a:r>
              <a:rPr lang="vi-VN" altLang="zh-CN" sz="24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Động từ năng nguyện “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要</a:t>
            </a:r>
            <a:r>
              <a:rPr lang="zh-CN" altLang="en-US" sz="24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” </a:t>
            </a:r>
            <a:r>
              <a:rPr lang="vi-VN" altLang="zh-CN" sz="24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đứng trước động từ biểu thị nguyện vọng làm một việc gì đó.</a:t>
            </a:r>
          </a:p>
        </p:txBody>
      </p:sp>
      <p:sp>
        <p:nvSpPr>
          <p:cNvPr id="11" name="矩形 10"/>
          <p:cNvSpPr/>
          <p:nvPr/>
        </p:nvSpPr>
        <p:spPr>
          <a:xfrm>
            <a:off x="640329" y="3114134"/>
            <a:ext cx="8084457" cy="3539430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r>
              <a:rPr kumimoji="1" lang="vi-VN" altLang="zh-CN" sz="2400" i="1">
                <a:latin typeface="+mj-lt"/>
                <a:ea typeface="KaiTi" panose="02010609060101010101" pitchFamily="49" charset="-122"/>
              </a:rPr>
              <a:t>Dạng phủ định thường</a:t>
            </a:r>
            <a:r>
              <a:rPr kumimoji="1" lang="en-US" altLang="zh-CN" sz="2400" i="1">
                <a:latin typeface="+mj-lt"/>
                <a:ea typeface="KaiTi" panose="02010609060101010101" pitchFamily="49" charset="-122"/>
              </a:rPr>
              <a:t> </a:t>
            </a:r>
            <a:r>
              <a:rPr kumimoji="1" lang="en-US" altLang="zh-CN" sz="2400" i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dù</a:t>
            </a:r>
            <a:r>
              <a:rPr kumimoji="1" lang="vi-VN" altLang="zh-CN" sz="2400" i="1">
                <a:latin typeface="+mj-lt"/>
                <a:ea typeface="KaiTi" panose="02010609060101010101" pitchFamily="49" charset="-122"/>
              </a:rPr>
              <a:t>ng </a:t>
            </a:r>
            <a:r>
              <a:rPr kumimoji="1" lang="vi-VN" altLang="zh-CN" sz="2400">
                <a:latin typeface="+mj-lt"/>
                <a:ea typeface="KaiTi" panose="02010609060101010101" pitchFamily="49" charset="-122"/>
              </a:rPr>
              <a:t>“</a:t>
            </a:r>
            <a:r>
              <a:rPr kumimoji="1" lang="zh-CN" altLang="en-US" sz="2400">
                <a:latin typeface="+mj-lt"/>
                <a:ea typeface="KaiTi" panose="02010609060101010101" pitchFamily="49" charset="-122"/>
              </a:rPr>
              <a:t>不想</a:t>
            </a:r>
            <a:r>
              <a:rPr kumimoji="1" lang="zh-CN" altLang="en-US" sz="24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kumimoji="1" lang="zh-CN" altLang="en-US" sz="2400" i="1">
                <a:latin typeface="+mj-lt"/>
                <a:ea typeface="KaiTi" panose="02010609060101010101" pitchFamily="49" charset="-122"/>
              </a:rPr>
              <a:t>。</a:t>
            </a:r>
          </a:p>
          <a:p>
            <a:pPr algn="ctr"/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例如：</a:t>
            </a:r>
          </a:p>
          <a:p>
            <a:r>
              <a:rPr kumimoji="1" lang="en-US" altLang="zh-CN" sz="280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kumimoji="1" lang="vi-VN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A</a:t>
            </a:r>
            <a:r>
              <a:rPr kumimoji="1" lang="zh-CN" altLang="vi-V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：</a:t>
            </a:r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小王要去</a:t>
            </a:r>
          </a:p>
          <a:p>
            <a:pPr marL="261938"/>
            <a:r>
              <a:rPr kumimoji="1" lang="vi-VN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B</a:t>
            </a:r>
            <a:r>
              <a:rPr kumimoji="1" lang="zh-CN" altLang="vi-V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：</a:t>
            </a:r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我不想去。</a:t>
            </a:r>
          </a:p>
          <a:p>
            <a:r>
              <a:rPr kumimoji="1" lang="en-US" altLang="zh-CN" sz="280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kumimoji="1" lang="vi-VN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A</a:t>
            </a:r>
            <a:r>
              <a:rPr kumimoji="1" lang="zh-CN" altLang="vi-V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：</a:t>
            </a:r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你要吃米饭吗？</a:t>
            </a:r>
          </a:p>
          <a:p>
            <a:pPr marL="261938"/>
            <a:r>
              <a:rPr kumimoji="1" lang="vi-VN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B</a:t>
            </a:r>
            <a:r>
              <a:rPr kumimoji="1" lang="zh-CN" altLang="vi-V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：</a:t>
            </a:r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我不想吃米饭。</a:t>
            </a:r>
          </a:p>
          <a:p>
            <a:r>
              <a:rPr kumimoji="1" lang="en-US" altLang="zh-CN" sz="280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kumimoji="1" lang="en-US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.</a:t>
            </a:r>
            <a:r>
              <a:rPr kumimoji="1" lang="vi-VN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A</a:t>
            </a:r>
            <a:r>
              <a:rPr kumimoji="1" lang="zh-CN" altLang="vi-V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：</a:t>
            </a:r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我要去商店买椅子，你去吗</a:t>
            </a:r>
          </a:p>
          <a:p>
            <a:pPr marL="261938"/>
            <a:r>
              <a:rPr kumimoji="1" lang="vi-VN" altLang="zh-C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B</a:t>
            </a:r>
            <a:r>
              <a:rPr kumimoji="1" lang="zh-CN" altLang="vi-VN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：</a:t>
            </a:r>
            <a:r>
              <a:rPr kumimoji="1" lang="zh-CN" altLang="en-US" sz="2800">
                <a:solidFill>
                  <a:schemeClr val="accent4">
                    <a:lumMod val="50000"/>
                  </a:schemeClr>
                </a:solidFill>
                <a:latin typeface="+mj-lt"/>
                <a:ea typeface="KaiTi" panose="02010609060101010101" pitchFamily="49" charset="-122"/>
              </a:rPr>
              <a:t>我不去，我不想买椅子。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128326" y="184682"/>
            <a:ext cx="54591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能愿动词“</a:t>
            </a:r>
            <a:r>
              <a:rPr lang="zh-CN" altLang="en-US" sz="3600" b="1">
                <a:solidFill>
                  <a:srgbClr val="FF000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要</a:t>
            </a:r>
            <a:r>
              <a:rPr lang="zh-CN" altLang="en-US" sz="3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”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3"/>
          <a:srcRect l="4398" t="35166" r="17860" b="32024"/>
          <a:stretch>
            <a:fillRect/>
          </a:stretch>
        </p:blipFill>
        <p:spPr>
          <a:xfrm>
            <a:off x="7977160" y="3877322"/>
            <a:ext cx="3924283" cy="2426553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3"/>
          <a:srcRect l="6759" t="69047" r="20329"/>
          <a:stretch>
            <a:fillRect/>
          </a:stretch>
        </p:blipFill>
        <p:spPr>
          <a:xfrm rot="19572832">
            <a:off x="7420830" y="5051403"/>
            <a:ext cx="2417746" cy="1487256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177228"/>
              </p:ext>
            </p:extLst>
          </p:nvPr>
        </p:nvGraphicFramePr>
        <p:xfrm>
          <a:off x="2491500" y="1705178"/>
          <a:ext cx="7447801" cy="1379565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930912">
                  <a:extLst>
                    <a:ext uri="{9D8B030D-6E8A-4147-A177-3AD203B41FA5}">
                      <a16:colId xmlns:a16="http://schemas.microsoft.com/office/drawing/2014/main" val="1086150095"/>
                    </a:ext>
                  </a:extLst>
                </a:gridCol>
                <a:gridCol w="2001404">
                  <a:extLst>
                    <a:ext uri="{9D8B030D-6E8A-4147-A177-3AD203B41FA5}">
                      <a16:colId xmlns:a16="http://schemas.microsoft.com/office/drawing/2014/main" val="2494191345"/>
                    </a:ext>
                  </a:extLst>
                </a:gridCol>
                <a:gridCol w="3515485">
                  <a:extLst>
                    <a:ext uri="{9D8B030D-6E8A-4147-A177-3AD203B41FA5}">
                      <a16:colId xmlns:a16="http://schemas.microsoft.com/office/drawing/2014/main" val="2696065075"/>
                    </a:ext>
                  </a:extLst>
                </a:gridCol>
              </a:tblGrid>
              <a:tr h="428422">
                <a:tc>
                  <a:txBody>
                    <a:bodyPr/>
                    <a:lstStyle/>
                    <a:p>
                      <a:pPr algn="ctr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主语</a:t>
                      </a:r>
                      <a:endParaRPr lang="en-GB" sz="24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800" dirty="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要</a:t>
                      </a:r>
                      <a:endParaRPr lang="en-GB" sz="2000" dirty="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400">
                          <a:solidFill>
                            <a:srgbClr val="C00000"/>
                          </a:solidFill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其他成分</a:t>
                      </a:r>
                      <a:endParaRPr lang="en-GB" sz="2400">
                        <a:solidFill>
                          <a:srgbClr val="C00000"/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855152172"/>
                  </a:ext>
                </a:extLst>
              </a:tr>
              <a:tr h="458069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王方</a:t>
                      </a:r>
                      <a:endParaRPr lang="en-GB" sz="240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要</a:t>
                      </a:r>
                      <a:endParaRPr lang="en-GB" sz="240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学习英语</a:t>
                      </a:r>
                      <a:r>
                        <a:rPr lang="en-US" sz="2400" kern="12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。</a:t>
                      </a:r>
                      <a:endParaRPr lang="en-GB" sz="240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838673647"/>
                  </a:ext>
                </a:extLst>
              </a:tr>
              <a:tr h="464613"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我们</a:t>
                      </a:r>
                      <a:endParaRPr lang="en-GB" sz="2400" kern="12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要不要</a:t>
                      </a:r>
                      <a:endParaRPr lang="en-GB" sz="2400" kern="120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  <a:cs typeface="+mn-cs"/>
                      </a:endParaRPr>
                    </a:p>
                  </a:txBody>
                  <a:tcPr marL="6350" marR="6350" marT="0" marB="0" anchor="ctr"/>
                </a:tc>
                <a:tc>
                  <a:txBody>
                    <a:bodyPr/>
                    <a:lstStyle/>
                    <a:p>
                      <a:pPr marL="0" indent="0" algn="ctr" defTabSz="914400" rtl="0" eaLnBrk="1" latinLnBrk="0" hangingPunct="1">
                        <a:lnSpc>
                          <a:spcPct val="124000"/>
                        </a:lnSpc>
                        <a:spcAft>
                          <a:spcPts val="0"/>
                        </a:spcAft>
                      </a:pPr>
                      <a:r>
                        <a:rPr lang="en-US" sz="2400" kern="1200" dirty="0" err="1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买几个新的椅子</a:t>
                      </a:r>
                      <a:r>
                        <a:rPr lang="en-US" sz="2400" kern="1200" dirty="0">
                          <a:effectLst/>
                          <a:latin typeface="KaiTi" panose="02010609060101010101" pitchFamily="49" charset="-122"/>
                          <a:ea typeface="KaiTi" panose="02010609060101010101" pitchFamily="49" charset="-122"/>
                        </a:rPr>
                        <a:t>？</a:t>
                      </a:r>
                      <a:endParaRPr lang="en-US" sz="2400" kern="1200" dirty="0">
                        <a:solidFill>
                          <a:schemeClr val="bg2">
                            <a:lumMod val="50000"/>
                          </a:schemeClr>
                        </a:solidFill>
                        <a:effectLst/>
                        <a:latin typeface="KaiTi" panose="02010609060101010101" pitchFamily="49" charset="-122"/>
                        <a:ea typeface="KaiTi" panose="02010609060101010101" pitchFamily="49" charset="-122"/>
                      </a:endParaRPr>
                    </a:p>
                  </a:txBody>
                  <a:tcPr marL="6350" marR="6350" marT="0" marB="0" anchor="ctr"/>
                </a:tc>
                <a:extLst>
                  <a:ext uri="{0D108BD9-81ED-4DB2-BD59-A6C34878D82A}">
                    <a16:rowId xmlns:a16="http://schemas.microsoft.com/office/drawing/2014/main" val="2876891418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>
            <a:off x="246743" y="1287817"/>
            <a:ext cx="11451771" cy="5446812"/>
          </a:xfrm>
          <a:prstGeom prst="rect">
            <a:avLst/>
          </a:prstGeom>
          <a:noFill/>
          <a:ln w="28575">
            <a:solidFill>
              <a:srgbClr val="F7F9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427899" y="1132114"/>
            <a:ext cx="11473544" cy="5471886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344224" y="2180590"/>
            <a:ext cx="9557219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en-US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B</a:t>
            </a:r>
            <a:r>
              <a:rPr lang="vi-VN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iểu thị ý nghĩa đứng nhất so với những thứ cùng loại</a:t>
            </a:r>
            <a:r>
              <a:rPr lang="en-US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.</a:t>
            </a:r>
            <a:endParaRPr lang="zh-CN" altLang="en-US" sz="2800">
              <a:solidFill>
                <a:srgbClr val="C00000"/>
              </a:solidFill>
              <a:latin typeface="Times New Roman" panose="02020603050405020304" pitchFamily="18" charset="0"/>
              <a:ea typeface="Adobe Kaiti Std R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62772" y="3362050"/>
            <a:ext cx="4179011" cy="2677656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marL="514350" indent="-514350">
              <a:lnSpc>
                <a:spcPct val="200000"/>
              </a:lnSpc>
              <a:buAutoNum type="arabicParenBoth"/>
            </a:pP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大卫的汉语最好。</a:t>
            </a:r>
          </a:p>
          <a:p>
            <a:pPr marL="514350" indent="-514350">
              <a:lnSpc>
                <a:spcPct val="200000"/>
              </a:lnSpc>
              <a:buAutoNum type="arabicParenBoth"/>
            </a:pP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我最喜欢吃米饭。</a:t>
            </a:r>
          </a:p>
          <a:p>
            <a:pPr marL="514350" indent="-514350">
              <a:lnSpc>
                <a:spcPct val="200000"/>
              </a:lnSpc>
              <a:buAutoNum type="arabicParenBoth"/>
            </a:pPr>
            <a:r>
              <a:rPr lang="zh-CN" altLang="en-US" sz="280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它的眼睛最漂亮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-1226669" y="1694102"/>
            <a:ext cx="545913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8800" b="1">
                <a:solidFill>
                  <a:srgbClr val="C0000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最</a:t>
            </a:r>
          </a:p>
        </p:txBody>
      </p:sp>
      <p:grpSp>
        <p:nvGrpSpPr>
          <p:cNvPr id="8" name="组合 34"/>
          <p:cNvGrpSpPr/>
          <p:nvPr/>
        </p:nvGrpSpPr>
        <p:grpSpPr>
          <a:xfrm>
            <a:off x="9557611" y="2484731"/>
            <a:ext cx="2255730" cy="4525904"/>
            <a:chOff x="4314229" y="2099164"/>
            <a:chExt cx="2255730" cy="4525904"/>
          </a:xfrm>
        </p:grpSpPr>
        <p:sp>
          <p:nvSpPr>
            <p:cNvPr id="12" name="矩形 2"/>
            <p:cNvSpPr/>
            <p:nvPr/>
          </p:nvSpPr>
          <p:spPr>
            <a:xfrm>
              <a:off x="4314229" y="3356799"/>
              <a:ext cx="2094329" cy="2491861"/>
            </a:xfrm>
            <a:prstGeom prst="rect">
              <a:avLst/>
            </a:prstGeom>
            <a:noFill/>
            <a:ln>
              <a:solidFill>
                <a:srgbClr val="A39A8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WenYue GuDianMingChaoTi (Non-Commercial Use)" pitchFamily="50" charset="-122"/>
              </a:endParaRPr>
            </a:p>
          </p:txBody>
        </p:sp>
        <p:pic>
          <p:nvPicPr>
            <p:cNvPr id="17" name="图片 35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82" t="37701" r="48804"/>
            <a:stretch>
              <a:fillRect/>
            </a:stretch>
          </p:blipFill>
          <p:spPr>
            <a:xfrm>
              <a:off x="4728246" y="3716228"/>
              <a:ext cx="1000898" cy="2566261"/>
            </a:xfrm>
            <a:prstGeom prst="rect">
              <a:avLst/>
            </a:prstGeom>
          </p:spPr>
        </p:pic>
        <p:pic>
          <p:nvPicPr>
            <p:cNvPr id="18" name="图片 36"/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colorTemperature colorTemp="72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62777" y="4683210"/>
              <a:ext cx="1907182" cy="1941858"/>
            </a:xfrm>
            <a:prstGeom prst="rect">
              <a:avLst/>
            </a:prstGeom>
          </p:spPr>
        </p:pic>
        <p:pic>
          <p:nvPicPr>
            <p:cNvPr id="16" name="图片 33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aturation sat="2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4"/>
            <a:stretch>
              <a:fillRect/>
            </a:stretch>
          </p:blipFill>
          <p:spPr>
            <a:xfrm>
              <a:off x="5180891" y="2099164"/>
              <a:ext cx="1155478" cy="41192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373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1" grpId="0" uiExpand="1" build="p"/>
      <p:bldP spid="1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246743" y="1287817"/>
            <a:ext cx="11451771" cy="5446812"/>
          </a:xfrm>
          <a:prstGeom prst="rect">
            <a:avLst/>
          </a:prstGeom>
          <a:noFill/>
          <a:ln w="28575">
            <a:solidFill>
              <a:srgbClr val="F7F9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427899" y="1132114"/>
            <a:ext cx="11473544" cy="5471886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994230" y="1214985"/>
            <a:ext cx="6977398" cy="138499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* </a:t>
            </a:r>
            <a:r>
              <a:rPr lang="vi-VN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Số từ chỉ ước lượng “</a:t>
            </a:r>
            <a:r>
              <a:rPr lang="zh-CN" altLang="en-US" sz="2800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几</a:t>
            </a:r>
            <a:r>
              <a:rPr lang="zh-CN" altLang="en-US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”  </a:t>
            </a:r>
            <a:r>
              <a:rPr lang="vi-VN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d</a:t>
            </a:r>
            <a:r>
              <a:rPr lang="en-US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ù</a:t>
            </a:r>
            <a:r>
              <a:rPr lang="vi-VN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ng biểu thị số lượng dưới 10. </a:t>
            </a:r>
          </a:p>
        </p:txBody>
      </p:sp>
      <p:sp>
        <p:nvSpPr>
          <p:cNvPr id="11" name="矩形 10"/>
          <p:cNvSpPr/>
          <p:nvPr/>
        </p:nvSpPr>
        <p:spPr>
          <a:xfrm>
            <a:off x="1505720" y="2818444"/>
            <a:ext cx="5324291" cy="203132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1. </a:t>
            </a:r>
            <a:r>
              <a:rPr lang="zh-CN" altLang="en-US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车上有几个人。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2. </a:t>
            </a:r>
            <a:r>
              <a:rPr lang="zh-CN" altLang="en-US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我想买几本书。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3. </a:t>
            </a:r>
            <a:r>
              <a:rPr lang="zh-CN" altLang="en-US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我们要不要买几个新的椅子</a:t>
            </a:r>
            <a:r>
              <a:rPr lang="en-US" altLang="zh-CN" sz="2800">
                <a:solidFill>
                  <a:srgbClr val="4F565C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-192167" y="1214985"/>
            <a:ext cx="31863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8800" b="1">
                <a:solidFill>
                  <a:srgbClr val="C0000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几</a:t>
            </a:r>
          </a:p>
        </p:txBody>
      </p:sp>
      <p:pic>
        <p:nvPicPr>
          <p:cNvPr id="15" name="图片 53" descr="25296545_221559222000_2"/>
          <p:cNvPicPr>
            <a:picLocks noChangeAspect="1"/>
          </p:cNvPicPr>
          <p:nvPr/>
        </p:nvPicPr>
        <p:blipFill>
          <a:blip r:embed="rId3"/>
          <a:srcRect l="5750" t="12020" r="19500"/>
          <a:stretch>
            <a:fillRect/>
          </a:stretch>
        </p:blipFill>
        <p:spPr>
          <a:xfrm>
            <a:off x="7907832" y="3334190"/>
            <a:ext cx="2698750" cy="2665095"/>
          </a:xfrm>
          <a:prstGeom prst="ellipse">
            <a:avLst/>
          </a:prstGeom>
        </p:spPr>
      </p:pic>
      <p:sp>
        <p:nvSpPr>
          <p:cNvPr id="8" name="矩形 9"/>
          <p:cNvSpPr/>
          <p:nvPr/>
        </p:nvSpPr>
        <p:spPr>
          <a:xfrm>
            <a:off x="727505" y="4893613"/>
            <a:ext cx="6977398" cy="138499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* “</a:t>
            </a:r>
            <a:r>
              <a:rPr lang="zh-CN" altLang="en-US" sz="2800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几</a:t>
            </a:r>
            <a:r>
              <a:rPr lang="zh-CN" altLang="en-US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” </a:t>
            </a:r>
            <a:r>
              <a:rPr lang="vi-VN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có thể đứng sau  “</a:t>
            </a:r>
            <a:r>
              <a:rPr lang="zh-CN" altLang="en-US" sz="2800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十</a:t>
            </a:r>
            <a:r>
              <a:rPr lang="zh-CN" altLang="en-US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” </a:t>
            </a:r>
            <a:r>
              <a:rPr lang="vi-VN" altLang="zh-CN" sz="2800" i="1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biểu thị số lượng từ 20-99 : </a:t>
            </a:r>
            <a:r>
              <a:rPr lang="zh-CN" altLang="en-US" sz="2800"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几十个人</a:t>
            </a:r>
          </a:p>
        </p:txBody>
      </p:sp>
    </p:spTree>
    <p:extLst>
      <p:ext uri="{BB962C8B-B14F-4D97-AF65-F5344CB8AC3E}">
        <p14:creationId xmlns:p14="http://schemas.microsoft.com/office/powerpoint/2010/main" val="3976050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11" grpId="0"/>
      <p:bldP spid="13" grpId="0"/>
      <p:bldP spid="8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46743" y="1287817"/>
            <a:ext cx="11451771" cy="5446812"/>
          </a:xfrm>
          <a:prstGeom prst="rect">
            <a:avLst/>
          </a:prstGeom>
          <a:noFill/>
          <a:ln w="28575">
            <a:solidFill>
              <a:srgbClr val="F7F9F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/>
          <p:cNvSpPr/>
          <p:nvPr/>
        </p:nvSpPr>
        <p:spPr>
          <a:xfrm>
            <a:off x="427899" y="1132114"/>
            <a:ext cx="11473544" cy="5471886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762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13385" y="1120257"/>
            <a:ext cx="147347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ctr"/>
            <a:r>
              <a:rPr lang="zh-CN" altLang="en-US" sz="8800" b="1">
                <a:solidFill>
                  <a:srgbClr val="C0000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多</a:t>
            </a:r>
          </a:p>
        </p:txBody>
      </p:sp>
      <p:pic>
        <p:nvPicPr>
          <p:cNvPr id="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457" y="1594705"/>
            <a:ext cx="2326550" cy="4546703"/>
          </a:xfrm>
          <a:prstGeom prst="rect">
            <a:avLst/>
          </a:prstGeom>
        </p:spPr>
      </p:pic>
      <p:sp>
        <p:nvSpPr>
          <p:cNvPr id="9" name="矩形 9"/>
          <p:cNvSpPr/>
          <p:nvPr/>
        </p:nvSpPr>
        <p:spPr>
          <a:xfrm>
            <a:off x="3109565" y="1339534"/>
            <a:ext cx="9013113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* </a:t>
            </a:r>
            <a:r>
              <a:rPr lang="vi-VN" altLang="zh-CN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Khi chỉ số lượng dưới 10 “</a:t>
            </a:r>
            <a:r>
              <a:rPr lang="zh-CN" altLang="en-US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多”  </a:t>
            </a:r>
            <a:r>
              <a:rPr lang="vi-VN" altLang="zh-CN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sẽ đứng sau lượng từ. </a:t>
            </a:r>
          </a:p>
        </p:txBody>
      </p:sp>
      <p:sp>
        <p:nvSpPr>
          <p:cNvPr id="12" name="矩形 10"/>
          <p:cNvSpPr/>
          <p:nvPr/>
        </p:nvSpPr>
        <p:spPr>
          <a:xfrm>
            <a:off x="6374223" y="2013372"/>
            <a:ext cx="5324291" cy="203132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1. </a:t>
            </a:r>
            <a:r>
              <a:rPr lang="zh-CN" altLang="en-US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五年多。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2. </a:t>
            </a:r>
            <a:r>
              <a:rPr lang="zh-CN" altLang="en-US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六个多月。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3. </a:t>
            </a:r>
            <a:r>
              <a:rPr lang="zh-CN" altLang="en-US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八天多。</a:t>
            </a:r>
            <a:endParaRPr lang="en-US" altLang="zh-CN" sz="2800">
              <a:solidFill>
                <a:srgbClr val="422B26"/>
              </a:solidFill>
              <a:latin typeface="Times New Roman" panose="02020603050405020304" pitchFamily="18" charset="0"/>
              <a:ea typeface="Adobe Kaiti Std R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14" name="矩形 9"/>
          <p:cNvSpPr/>
          <p:nvPr/>
        </p:nvSpPr>
        <p:spPr>
          <a:xfrm>
            <a:off x="3109565" y="3868057"/>
            <a:ext cx="9505066" cy="738664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 algn="just" fontAlgn="ctr">
              <a:lnSpc>
                <a:spcPct val="150000"/>
              </a:lnSpc>
            </a:pPr>
            <a:r>
              <a:rPr lang="zh-CN" altLang="en-US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* </a:t>
            </a:r>
            <a:r>
              <a:rPr lang="vi-VN" altLang="zh-CN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Khi chỉ số lượng trên 10 “</a:t>
            </a:r>
            <a:r>
              <a:rPr lang="zh-CN" altLang="en-US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多”  </a:t>
            </a:r>
            <a:r>
              <a:rPr lang="vi-VN" altLang="zh-CN" sz="2800" i="1">
                <a:solidFill>
                  <a:srgbClr val="915620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sẽ đứng trước lượng từ. </a:t>
            </a:r>
          </a:p>
        </p:txBody>
      </p:sp>
      <p:sp>
        <p:nvSpPr>
          <p:cNvPr id="15" name="矩形 10"/>
          <p:cNvSpPr/>
          <p:nvPr/>
        </p:nvSpPr>
        <p:spPr>
          <a:xfrm>
            <a:off x="6388737" y="4584111"/>
            <a:ext cx="5324291" cy="2031325"/>
          </a:xfrm>
          <a:prstGeom prst="rect">
            <a:avLst/>
          </a:prstGeom>
        </p:spPr>
        <p:txBody>
          <a:bodyPr vert="horz"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1. </a:t>
            </a:r>
            <a:r>
              <a:rPr lang="zh-CN" altLang="en-US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一百多个。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2. </a:t>
            </a:r>
            <a:r>
              <a:rPr lang="zh-CN" altLang="en-US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十个多月。</a:t>
            </a:r>
          </a:p>
          <a:p>
            <a:pPr>
              <a:lnSpc>
                <a:spcPct val="150000"/>
              </a:lnSpc>
            </a:pPr>
            <a:r>
              <a:rPr lang="en-US" altLang="zh-CN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3. </a:t>
            </a:r>
            <a:r>
              <a:rPr lang="zh-CN" altLang="en-US" sz="2800">
                <a:solidFill>
                  <a:srgbClr val="422B26"/>
                </a:solidFill>
                <a:latin typeface="Times New Roman" panose="02020603050405020304" pitchFamily="18" charset="0"/>
                <a:ea typeface="Adobe Kaiti Std R" panose="02020400000000000000" pitchFamily="18" charset="-128"/>
                <a:cs typeface="Times New Roman" panose="02020603050405020304" pitchFamily="18" charset="0"/>
              </a:rPr>
              <a:t>二十多块钱。</a:t>
            </a:r>
          </a:p>
        </p:txBody>
      </p:sp>
    </p:spTree>
    <p:extLst>
      <p:ext uri="{BB962C8B-B14F-4D97-AF65-F5344CB8AC3E}">
        <p14:creationId xmlns:p14="http://schemas.microsoft.com/office/powerpoint/2010/main" val="292335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2" grpId="0"/>
      <p:bldP spid="14" grpId="0" uiExpand="1" build="p"/>
      <p:bldP spid="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9" name="矩形 13"/>
          <p:cNvSpPr/>
          <p:nvPr/>
        </p:nvSpPr>
        <p:spPr>
          <a:xfrm>
            <a:off x="1532924" y="1761578"/>
            <a:ext cx="9938658" cy="3308479"/>
          </a:xfrm>
          <a:prstGeom prst="rect">
            <a:avLst/>
          </a:prstGeom>
          <a:noFill/>
          <a:ln>
            <a:solidFill>
              <a:srgbClr val="F7F9F3"/>
            </a:solidFill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86181" y="1992864"/>
            <a:ext cx="9938658" cy="3308479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730385" y="2385993"/>
            <a:ext cx="1" cy="25118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7407473" y="2384425"/>
            <a:ext cx="1292662" cy="21647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7200" spc="500">
                <a:solidFill>
                  <a:srgbClr val="C00000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语音</a:t>
            </a:r>
            <a:endParaRPr kumimoji="1" lang="zh-CN" altLang="en-US" sz="7200" b="1" spc="500" dirty="0">
              <a:solidFill>
                <a:srgbClr val="C00000"/>
              </a:solidFill>
              <a:uFillTx/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55520" y="1772285"/>
            <a:ext cx="73152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0" b="1">
                <a:solidFill>
                  <a:srgbClr val="A39A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endParaRPr lang="en-US" altLang="zh-CN" sz="30000" b="1" dirty="0">
              <a:solidFill>
                <a:srgbClr val="A39A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78" y="1466922"/>
            <a:ext cx="2417395" cy="3371850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165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39199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798" y="263802"/>
            <a:ext cx="41488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Đọc liền nhiều âm tiết:</a:t>
            </a:r>
          </a:p>
        </p:txBody>
      </p:sp>
      <p:pic>
        <p:nvPicPr>
          <p:cNvPr id="9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771" y="3869264"/>
            <a:ext cx="4107543" cy="297422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51428" y="1570169"/>
            <a:ext cx="10160000" cy="37481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冰箱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bīngxiāng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	  </a:t>
            </a: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帮忙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bāngmáng</a:t>
            </a:r>
            <a:endParaRPr lang="en-US" sz="36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打扰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dǎrǎo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		  </a:t>
            </a: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高兴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gāoxìng</a:t>
            </a:r>
            <a:endParaRPr lang="en-US" sz="36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旅游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lǚyóu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		  </a:t>
            </a: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可能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kěnéng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开始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kāishǐ</a:t>
            </a:r>
            <a:r>
              <a:rPr 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	          </a:t>
            </a: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考</a:t>
            </a:r>
            <a:r>
              <a:rPr lang="zh-CN" altLang="en-US" sz="36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试 </a:t>
            </a:r>
            <a:r>
              <a:rPr lang="en-US" sz="36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kǎosh</a:t>
            </a:r>
            <a:r>
              <a:rPr lang="en-US" sz="3000" dirty="0" err="1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ì</a:t>
            </a:r>
            <a:r>
              <a:rPr lang="en-US" sz="3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90532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39199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798" y="263802"/>
            <a:ext cx="39773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 tập thanh nhẹ: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96571" y="1570169"/>
            <a:ext cx="7053943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东西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dōngxi		   </a:t>
            </a: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窗户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chuānghu 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萝卜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luóbo                 </a:t>
            </a: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时候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shíhou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枕头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zhěntou             </a:t>
            </a: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你们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nǐmen </a:t>
            </a:r>
          </a:p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告诉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gàosu                 </a:t>
            </a:r>
            <a:r>
              <a:rPr lang="zh-CN" altLang="en-US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故事 </a:t>
            </a:r>
            <a:r>
              <a:rPr lang="en-US" altLang="zh-CN" sz="360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gùshi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307523" y="1047583"/>
            <a:ext cx="4132761" cy="581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236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9" name="矩形 13"/>
          <p:cNvSpPr/>
          <p:nvPr/>
        </p:nvSpPr>
        <p:spPr>
          <a:xfrm>
            <a:off x="1532924" y="1761578"/>
            <a:ext cx="9938658" cy="3308479"/>
          </a:xfrm>
          <a:prstGeom prst="rect">
            <a:avLst/>
          </a:prstGeom>
          <a:noFill/>
          <a:ln>
            <a:solidFill>
              <a:srgbClr val="F7F9F3"/>
            </a:solidFill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286181" y="1992864"/>
            <a:ext cx="9938658" cy="3308479"/>
          </a:xfrm>
          <a:prstGeom prst="rect">
            <a:avLst/>
          </a:prstGeom>
          <a:solidFill>
            <a:srgbClr val="F7F9F3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8730385" y="2385993"/>
            <a:ext cx="1" cy="2511879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6"/>
          <p:cNvSpPr txBox="1"/>
          <p:nvPr/>
        </p:nvSpPr>
        <p:spPr>
          <a:xfrm>
            <a:off x="7407473" y="2384425"/>
            <a:ext cx="1292662" cy="216471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sz="7200" spc="500">
                <a:solidFill>
                  <a:srgbClr val="C00000"/>
                </a:solidFill>
                <a:uFillTx/>
                <a:latin typeface="楷体" panose="02010609060101010101" pitchFamily="49" charset="-122"/>
                <a:ea typeface="楷体" panose="02010609060101010101" pitchFamily="49" charset="-122"/>
                <a:cs typeface="badashanren" panose="02000600000000000000" pitchFamily="2" charset="-128"/>
                <a:sym typeface="+mn-ea"/>
              </a:rPr>
              <a:t>练习</a:t>
            </a:r>
            <a:endParaRPr kumimoji="1" lang="zh-CN" altLang="en-US" sz="7200" b="1" spc="500" dirty="0">
              <a:solidFill>
                <a:srgbClr val="C00000"/>
              </a:solidFill>
              <a:uFillTx/>
              <a:latin typeface="楷体" panose="02010609060101010101" pitchFamily="49" charset="-122"/>
              <a:ea typeface="楷体" panose="02010609060101010101" pitchFamily="49" charset="-122"/>
              <a:cs typeface="badashanren" panose="02000600000000000000" pitchFamily="2" charset="-128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55520" y="1772285"/>
            <a:ext cx="73152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0000" b="1">
                <a:solidFill>
                  <a:srgbClr val="A39A8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endParaRPr lang="en-US" altLang="zh-CN" sz="30000" b="1" dirty="0">
              <a:solidFill>
                <a:srgbClr val="A39A8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9978" y="1466922"/>
            <a:ext cx="2417395" cy="3371850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9282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-159658" y="1723817"/>
            <a:ext cx="1849691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zh-CN" altLang="en-US" sz="44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会</a:t>
            </a:r>
            <a:endParaRPr lang="en-US" altLang="zh-CN" sz="440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zh-CN" altLang="en-US" sz="44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话</a:t>
            </a:r>
            <a:endParaRPr lang="en-US" altLang="zh-CN" sz="440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zh-CN" altLang="en-US" sz="44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练</a:t>
            </a:r>
            <a:endParaRPr lang="en-US" altLang="zh-CN" sz="440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0" algn="ctr">
              <a:defRPr/>
            </a:pPr>
            <a:r>
              <a:rPr lang="zh-CN" altLang="en-US" sz="4400">
                <a:solidFill>
                  <a:srgbClr val="C00000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习</a:t>
            </a:r>
            <a:endParaRPr lang="en-US" sz="4400">
              <a:solidFill>
                <a:srgbClr val="C00000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9" name="图片 18"/>
          <p:cNvPicPr>
            <a:picLocks noChangeAspect="1"/>
          </p:cNvPicPr>
          <p:nvPr/>
        </p:nvPicPr>
        <p:blipFill rotWithShape="1">
          <a:blip r:embed="rId3"/>
          <a:srcRect l="6759" t="69047" r="20329"/>
          <a:stretch>
            <a:fillRect/>
          </a:stretch>
        </p:blipFill>
        <p:spPr>
          <a:xfrm>
            <a:off x="8859222" y="4029532"/>
            <a:ext cx="2765591" cy="17012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690033" y="446544"/>
            <a:ext cx="6468437" cy="2554545"/>
          </a:xfrm>
          <a:prstGeom prst="rect">
            <a:avLst/>
          </a:prstGeom>
          <a:noFill/>
          <a:ln w="19050">
            <a:solidFill>
              <a:srgbClr val="816E50"/>
            </a:solidFill>
          </a:ln>
        </p:spPr>
        <p:txBody>
          <a:bodyPr wrap="non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例如一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：你最喜欢吃什么？最不喜欢吃什么？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 err="1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B：我最</a:t>
            </a:r>
            <a:r>
              <a:rPr 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……?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：你最喜欢什么运动？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fr-FR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fr-FR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875327" y="3073965"/>
            <a:ext cx="6288901" cy="35702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zh-CN" altLang="en-US" sz="2800" dirty="0">
                <a:solidFill>
                  <a:schemeClr val="accent2">
                    <a:lumMod val="75000"/>
                  </a:schemeClr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例如二</a:t>
            </a:r>
            <a:endParaRPr lang="en-US" altLang="zh-CN" sz="2800" dirty="0">
              <a:solidFill>
                <a:schemeClr val="accent2">
                  <a:lumMod val="75000"/>
                </a:schemeClr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 err="1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A：你最想去什么地方旅游</a:t>
            </a:r>
            <a:r>
              <a:rPr 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 err="1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B：</a:t>
            </a:r>
            <a:r>
              <a:rPr lang="en-US" sz="2800" err="1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我最</a:t>
            </a:r>
            <a:r>
              <a:rPr 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……</a:t>
            </a:r>
            <a:r>
              <a:rPr lang="zh-CN" alt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 err="1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A：为什么</a:t>
            </a:r>
            <a:r>
              <a:rPr 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？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B：……</a:t>
            </a:r>
            <a:r>
              <a:rPr lang="zh-CN" alt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GB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2800" dirty="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A:你最不想去什么地方旅游？为什么？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B:……</a:t>
            </a:r>
            <a:r>
              <a:rPr lang="zh-CN" altLang="en-US" sz="2800">
                <a:solidFill>
                  <a:srgbClr val="454343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sz="2800" dirty="0">
              <a:solidFill>
                <a:srgbClr val="454343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78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706828" y="1107443"/>
            <a:ext cx="650851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>
                <a:solidFill>
                  <a:srgbClr val="C00000"/>
                </a:solidFill>
                <a:latin typeface="Times New Roman" panose="02020603050405020304" pitchFamily="18" charset="0"/>
                <a:ea typeface="长城长宋体" panose="02010609000101010101" pitchFamily="49" charset="-122"/>
                <a:cs typeface="Times New Roman" panose="02020603050405020304" pitchFamily="18" charset="0"/>
              </a:rPr>
              <a:t>Hãy kể về các thành viên trong gia đình bạn</a:t>
            </a:r>
          </a:p>
          <a:p>
            <a:pPr algn="ctr"/>
            <a:r>
              <a:rPr lang="en-US" sz="2800">
                <a:solidFill>
                  <a:srgbClr val="C00000"/>
                </a:solidFill>
                <a:latin typeface="Times New Roman" panose="02020603050405020304" pitchFamily="18" charset="0"/>
                <a:ea typeface="长城长宋体" panose="02010609000101010101" pitchFamily="49" charset="-122"/>
                <a:cs typeface="Times New Roman" panose="02020603050405020304" pitchFamily="18" charset="0"/>
              </a:rPr>
              <a:t> thích và không thích đi đâu,lý do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2" y="145142"/>
            <a:ext cx="5184877" cy="656045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1639263"/>
              </p:ext>
            </p:extLst>
          </p:nvPr>
        </p:nvGraphicFramePr>
        <p:xfrm>
          <a:off x="1843315" y="2314985"/>
          <a:ext cx="9943779" cy="3352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5527">
                  <a:extLst>
                    <a:ext uri="{9D8B030D-6E8A-4147-A177-3AD203B41FA5}">
                      <a16:colId xmlns:a16="http://schemas.microsoft.com/office/drawing/2014/main" val="1279333081"/>
                    </a:ext>
                  </a:extLst>
                </a:gridCol>
                <a:gridCol w="1403826">
                  <a:extLst>
                    <a:ext uri="{9D8B030D-6E8A-4147-A177-3AD203B41FA5}">
                      <a16:colId xmlns:a16="http://schemas.microsoft.com/office/drawing/2014/main" val="283432856"/>
                    </a:ext>
                  </a:extLst>
                </a:gridCol>
                <a:gridCol w="5004132">
                  <a:extLst>
                    <a:ext uri="{9D8B030D-6E8A-4147-A177-3AD203B41FA5}">
                      <a16:colId xmlns:a16="http://schemas.microsoft.com/office/drawing/2014/main" val="1705979728"/>
                    </a:ext>
                  </a:extLst>
                </a:gridCol>
                <a:gridCol w="2850294">
                  <a:extLst>
                    <a:ext uri="{9D8B030D-6E8A-4147-A177-3AD203B41FA5}">
                      <a16:colId xmlns:a16="http://schemas.microsoft.com/office/drawing/2014/main" val="4043374328"/>
                    </a:ext>
                  </a:extLst>
                </a:gridCol>
              </a:tblGrid>
              <a:tr h="120187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GB" sz="2800" b="0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姓名</a:t>
                      </a:r>
                      <a:endParaRPr lang="en-US" altLang="zh-CN" sz="28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zh-CN" altLang="en-US" sz="2800" kern="120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800" kern="120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Họ </a:t>
                      </a:r>
                      <a:r>
                        <a:rPr lang="en-US" altLang="zh-CN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tên</a:t>
                      </a:r>
                      <a:endParaRPr lang="en-GB" sz="2800" b="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最想</a:t>
                      </a:r>
                      <a:r>
                        <a:rPr lang="en-US" altLang="zh-CN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CN" alt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最不想去的地方</a:t>
                      </a:r>
                      <a:endParaRPr lang="en-US" altLang="zh-CN" sz="28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Nơi</a:t>
                      </a:r>
                      <a:r>
                        <a:rPr 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muốn</a:t>
                      </a:r>
                      <a:r>
                        <a:rPr 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đi</a:t>
                      </a:r>
                      <a:r>
                        <a:rPr 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/ </a:t>
                      </a:r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không</a:t>
                      </a:r>
                      <a:r>
                        <a:rPr 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muốn</a:t>
                      </a:r>
                      <a:r>
                        <a:rPr 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đi</a:t>
                      </a:r>
                      <a:r>
                        <a:rPr 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800" kern="1200" dirty="0" err="1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nhất</a:t>
                      </a:r>
                      <a:endParaRPr lang="en-GB" sz="2800" b="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原因 </a:t>
                      </a:r>
                      <a:endParaRPr lang="en-US" altLang="zh-CN" sz="280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marL="0" algn="ctr" defTabSz="914400" rtl="0" eaLnBrk="1" latinLnBrk="0" hangingPunct="1"/>
                      <a:r>
                        <a:rPr lang="en-US" altLang="zh-CN" sz="2800" kern="120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Lý </a:t>
                      </a:r>
                      <a:r>
                        <a:rPr lang="en-US" altLang="zh-CN" sz="2800" kern="1200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do</a:t>
                      </a:r>
                      <a:endParaRPr lang="en-GB" sz="2800" b="0" kern="1200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5404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GB" sz="2400" b="0" kern="120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200" kern="1200" dirty="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妈妈</a:t>
                      </a:r>
                      <a:endParaRPr lang="en-GB" sz="3200" b="0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200" kern="1200" dirty="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最想去北京</a:t>
                      </a:r>
                      <a:endParaRPr lang="en-GB" sz="3200" b="0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3200" kern="1200" dirty="0">
                          <a:latin typeface="Times New Roman" panose="020206030504050203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a:t>他想吃中国菜</a:t>
                      </a:r>
                      <a:endParaRPr lang="en-GB" sz="3200" b="0" kern="1200" dirty="0">
                        <a:solidFill>
                          <a:schemeClr val="tx2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75088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4000" kern="1200" dirty="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42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sz="4000" kern="1200">
                        <a:solidFill>
                          <a:srgbClr val="FF5050"/>
                        </a:solidFill>
                        <a:latin typeface="Times New Roman" panose="020206030504050203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956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027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17714" y="145143"/>
            <a:ext cx="11785600" cy="65604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16114" y="58059"/>
            <a:ext cx="12003314" cy="6712857"/>
          </a:xfrm>
          <a:prstGeom prst="rect">
            <a:avLst/>
          </a:prstGeom>
          <a:noFill/>
          <a:ln w="28575"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hape 62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277257" y="605064"/>
            <a:ext cx="2248267" cy="1820131"/>
          </a:xfrm>
          <a:prstGeom prst="rect">
            <a:avLst/>
          </a:prstGeom>
        </p:spPr>
      </p:pic>
      <p:pic>
        <p:nvPicPr>
          <p:cNvPr id="9" name="Shape 64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4810355" y="605065"/>
            <a:ext cx="2415693" cy="1874006"/>
          </a:xfrm>
          <a:prstGeom prst="rect">
            <a:avLst/>
          </a:prstGeom>
        </p:spPr>
      </p:pic>
      <p:pic>
        <p:nvPicPr>
          <p:cNvPr id="10" name="Shape 66"/>
          <p:cNvPicPr/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8324858" y="605065"/>
            <a:ext cx="2174983" cy="1874006"/>
          </a:xfrm>
          <a:prstGeom prst="rect">
            <a:avLst/>
          </a:prstGeom>
        </p:spPr>
      </p:pic>
      <p:pic>
        <p:nvPicPr>
          <p:cNvPr id="11" name="Shape 68"/>
          <p:cNvPicPr/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1277257" y="2788164"/>
            <a:ext cx="2248267" cy="2140276"/>
          </a:xfrm>
          <a:prstGeom prst="rect">
            <a:avLst/>
          </a:prstGeom>
        </p:spPr>
      </p:pic>
      <p:pic>
        <p:nvPicPr>
          <p:cNvPr id="12" name="Shape 70"/>
          <p:cNvPicPr/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/>
        </p:blipFill>
        <p:spPr>
          <a:xfrm>
            <a:off x="4810355" y="2842039"/>
            <a:ext cx="2415693" cy="2140276"/>
          </a:xfrm>
          <a:prstGeom prst="rect">
            <a:avLst/>
          </a:prstGeom>
        </p:spPr>
      </p:pic>
      <p:pic>
        <p:nvPicPr>
          <p:cNvPr id="13" name="Shape 72"/>
          <p:cNvPicPr/>
          <p:nvPr/>
        </p:nvPicPr>
        <p:blipFill>
          <a:blip r:embed="rId13"/>
          <a:stretch/>
        </p:blipFill>
        <p:spPr>
          <a:xfrm>
            <a:off x="8324858" y="2842039"/>
            <a:ext cx="2206773" cy="208640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3514" y="5122091"/>
            <a:ext cx="10468275" cy="1284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旅游</a:t>
            </a:r>
            <a:r>
              <a:rPr lang="en-US" sz="2800" dirty="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___________		</a:t>
            </a:r>
            <a:r>
              <a:rPr lang="en-US" sz="2800" dirty="0" err="1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足球</a:t>
            </a:r>
            <a:r>
              <a:rPr lang="en-US" sz="2800" dirty="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__________		 </a:t>
            </a:r>
            <a:r>
              <a:rPr lang="en-US" sz="2800" dirty="0" err="1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眼睛</a:t>
            </a:r>
            <a:r>
              <a:rPr lang="en-US" sz="2800" dirty="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_________	</a:t>
            </a:r>
            <a:endParaRPr lang="en-GB" sz="2800" dirty="0">
              <a:solidFill>
                <a:srgbClr val="57434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sz="2800" dirty="0" err="1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运动</a:t>
            </a:r>
            <a:r>
              <a:rPr lang="en-US" sz="2800" dirty="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 </a:t>
            </a:r>
            <a:r>
              <a:rPr lang="en-US" sz="280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__________      椅子 </a:t>
            </a:r>
            <a:r>
              <a:rPr lang="en-US" sz="2800" dirty="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__________ 	 猫 __________</a:t>
            </a:r>
            <a:r>
              <a:rPr lang="en-GB" sz="2800">
                <a:solidFill>
                  <a:srgbClr val="574340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	</a:t>
            </a:r>
            <a:endParaRPr lang="en-GB" sz="2800" dirty="0">
              <a:solidFill>
                <a:srgbClr val="574340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7559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4"/>
          <a:srcRect l="8598" r="14725"/>
          <a:stretch>
            <a:fillRect/>
          </a:stretch>
        </p:blipFill>
        <p:spPr>
          <a:xfrm>
            <a:off x="-139065" y="0"/>
            <a:ext cx="12433300" cy="685800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3350175" y="701590"/>
            <a:ext cx="5454820" cy="5454820"/>
          </a:xfrm>
          <a:prstGeom prst="ellipse">
            <a:avLst/>
          </a:prstGeom>
          <a:solidFill>
            <a:srgbClr val="F7F9F3"/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2001817" y="4066982"/>
            <a:ext cx="817755" cy="817755"/>
          </a:xfrm>
          <a:prstGeom prst="ellipse">
            <a:avLst/>
          </a:prstGeom>
          <a:solidFill>
            <a:srgbClr val="F7F9F3"/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9967439" y="1918267"/>
            <a:ext cx="387041" cy="387041"/>
          </a:xfrm>
          <a:prstGeom prst="ellipse">
            <a:avLst/>
          </a:prstGeom>
          <a:solidFill>
            <a:srgbClr val="F7F9F3"/>
          </a:solidFill>
          <a:ln>
            <a:noFill/>
          </a:ln>
          <a:effectLst>
            <a:outerShdw blurRad="2159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PA-图片 27"/>
          <p:cNvSpPr/>
          <p:nvPr>
            <p:custDataLst>
              <p:tags r:id="rId1"/>
            </p:custDataLst>
          </p:nvPr>
        </p:nvSpPr>
        <p:spPr>
          <a:xfrm>
            <a:off x="4001135" y="2088515"/>
            <a:ext cx="922020" cy="671195"/>
          </a:xfrm>
          <a:custGeom>
            <a:avLst/>
            <a:gdLst/>
            <a:ahLst/>
            <a:cxnLst/>
            <a:rect l="0" t="0" r="0" b="0"/>
            <a:pathLst>
              <a:path w="3298119" h="1554143">
                <a:moveTo>
                  <a:pt x="0" y="0"/>
                </a:moveTo>
                <a:lnTo>
                  <a:pt x="3298118" y="0"/>
                </a:lnTo>
                <a:lnTo>
                  <a:pt x="3298118" y="1554142"/>
                </a:lnTo>
                <a:lnTo>
                  <a:pt x="0" y="1554142"/>
                </a:lnTo>
                <a:close/>
              </a:path>
            </a:pathLst>
          </a:cu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saturation sat="33000"/>
                      </a14:imgEffect>
                    </a14:imgLayer>
                  </a14:imgProps>
                </a:ext>
              </a:extLst>
            </a:blip>
            <a:stretch>
              <a:fillRect l="-6915" t="-38378" r="-106916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36662">
            <a:off x="6435520" y="1058157"/>
            <a:ext cx="3078480" cy="5636260"/>
          </a:xfrm>
          <a:prstGeom prst="rect">
            <a:avLst/>
          </a:prstGeom>
          <a:effectLst>
            <a:outerShdw blurRad="50800" dist="1016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5069936" y="1137425"/>
            <a:ext cx="1015663" cy="48303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CN" altLang="en-US" sz="54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非常感谢观看</a:t>
            </a:r>
          </a:p>
        </p:txBody>
      </p:sp>
    </p:spTree>
    <p:extLst>
      <p:ext uri="{BB962C8B-B14F-4D97-AF65-F5344CB8AC3E}">
        <p14:creationId xmlns:p14="http://schemas.microsoft.com/office/powerpoint/2010/main" val="3134652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3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3.3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</TotalTime>
  <Words>1503</Words>
  <Application>Microsoft Office PowerPoint</Application>
  <PresentationFormat>Widescreen</PresentationFormat>
  <Paragraphs>319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3" baseType="lpstr">
      <vt:lpstr>等线</vt:lpstr>
      <vt:lpstr>等线 Light</vt:lpstr>
      <vt:lpstr>KaiTi</vt:lpstr>
      <vt:lpstr>楷体</vt:lpstr>
      <vt:lpstr>Arial</vt:lpstr>
      <vt:lpstr>Times New Roman</vt:lpstr>
      <vt:lpstr>Office 主题​​</vt:lpstr>
      <vt:lpstr>1_Office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 liang</dc:creator>
  <cp:lastModifiedBy>min liang</cp:lastModifiedBy>
  <cp:revision>182</cp:revision>
  <dcterms:created xsi:type="dcterms:W3CDTF">2018-09-26T04:37:00Z</dcterms:created>
  <dcterms:modified xsi:type="dcterms:W3CDTF">2022-05-13T04:51:17Z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2052-11.1.0.7881</vt:lpwstr>
  </property>
</Properties>
</file>